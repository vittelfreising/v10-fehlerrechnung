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4" r:id="rId4"/>
    <p:sldId id="277" r:id="rId5"/>
    <p:sldId id="269" r:id="rId6"/>
    <p:sldId id="270" r:id="rId7"/>
    <p:sldId id="271" r:id="rId8"/>
    <p:sldId id="267" r:id="rId9"/>
    <p:sldId id="261" r:id="rId10"/>
    <p:sldId id="260" r:id="rId11"/>
    <p:sldId id="275" r:id="rId12"/>
    <p:sldId id="276" r:id="rId13"/>
    <p:sldId id="265" r:id="rId14"/>
    <p:sldId id="266" r:id="rId15"/>
    <p:sldId id="268" r:id="rId16"/>
    <p:sldId id="272" r:id="rId17"/>
    <p:sldId id="273" r:id="rId18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92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5B662A-59CF-A705-2B83-F49503997610}" v="308" dt="2025-11-24T15:46:25.195"/>
    <p1510:client id="{4D2A20E2-AA47-3CDF-6EFA-CFF093C91BF0}" v="273" dt="2025-11-23T23:39:07.964"/>
    <p1510:client id="{8A070920-B140-B945-A058-D35A3B3BF9CE}" v="384" dt="2025-11-24T11:45:48.199"/>
    <p1510:client id="{96C791AE-E6FF-E4D5-D65E-91247E5E9869}" v="156" dt="2025-11-23T23:22:36.317"/>
    <p1510:client id="{9BC8099F-6FEE-49B4-F6C5-043C5BD0AAF4}" v="177" dt="2025-11-24T12:21:23.279"/>
    <p1510:client id="{ED0CBF6F-39AF-3D31-1D8D-82D0A68CAE2F}" v="1651" dt="2025-11-24T15:45:51.119"/>
    <p1510:client id="{F921F198-3AF7-B889-D852-83F5562B6171}" v="204" dt="2025-11-23T15:32:05.5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803115-AD19-4933-93FB-4A893CDDFBA8}" type="datetimeFigureOut">
              <a:t>24.11.2025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6DFC7F-C3E0-4ADF-B19D-14921F6D01AB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2005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ea typeface="Calibri"/>
                <a:cs typeface="Calibri"/>
              </a:rPr>
              <a:t>Entweder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nur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Balkendiagramm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oder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nur</a:t>
            </a:r>
            <a:r>
              <a:rPr lang="en-US">
                <a:ea typeface="Calibri"/>
                <a:cs typeface="Calibri"/>
              </a:rPr>
              <a:t> Plott, </a:t>
            </a:r>
            <a:r>
              <a:rPr lang="en-US" err="1">
                <a:ea typeface="Calibri"/>
                <a:cs typeface="Calibri"/>
              </a:rPr>
              <a:t>damit</a:t>
            </a:r>
            <a:r>
              <a:rPr lang="en-US">
                <a:ea typeface="Calibri"/>
                <a:cs typeface="Calibri"/>
              </a:rPr>
              <a:t> es </a:t>
            </a:r>
            <a:r>
              <a:rPr lang="en-US" err="1">
                <a:ea typeface="Calibri"/>
                <a:cs typeface="Calibri"/>
              </a:rPr>
              <a:t>leichter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verständlich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ist</a:t>
            </a:r>
            <a:r>
              <a:rPr lang="en-US">
                <a:ea typeface="Calibri"/>
                <a:cs typeface="Calibri"/>
              </a:rPr>
              <a:t>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6DFC7F-C3E0-4ADF-B19D-14921F6D01AB}" type="slidenum">
              <a:rPr lang="de-DE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1451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Gesch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6DFC7F-C3E0-4ADF-B19D-14921F6D01AB}" type="slidenum">
              <a:rPr lang="de-DE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69045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674AF-DC94-411E-5AA2-FC8F47267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D10A03B-AFFC-4207-728C-FB2AEFA918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E195BA7-E498-081A-20CB-CBA712D87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Mit </a:t>
            </a:r>
            <a:r>
              <a:rPr lang="en-US" err="1">
                <a:ea typeface="Calibri"/>
                <a:cs typeface="Calibri"/>
              </a:rPr>
              <a:t>dieser</a:t>
            </a:r>
            <a:r>
              <a:rPr lang="en-US">
                <a:ea typeface="Calibri"/>
                <a:cs typeface="Calibri"/>
              </a:rPr>
              <a:t> Formel </a:t>
            </a:r>
            <a:r>
              <a:rPr lang="en-US" err="1">
                <a:ea typeface="Calibri"/>
                <a:cs typeface="Calibri"/>
              </a:rPr>
              <a:t>würde</a:t>
            </a:r>
            <a:r>
              <a:rPr lang="en-US">
                <a:ea typeface="Calibri"/>
                <a:cs typeface="Calibri"/>
              </a:rPr>
              <a:t> die </a:t>
            </a:r>
            <a:r>
              <a:rPr lang="en-US" err="1">
                <a:ea typeface="Calibri"/>
                <a:cs typeface="Calibri"/>
              </a:rPr>
              <a:t>Fehlerfortpflanzung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berechnet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werden</a:t>
            </a:r>
            <a:r>
              <a:rPr lang="en-US">
                <a:ea typeface="Calibri"/>
                <a:cs typeface="Calibri"/>
              </a:rPr>
              <a:t>. Da es </a:t>
            </a:r>
            <a:r>
              <a:rPr lang="en-US" err="1">
                <a:ea typeface="Calibri"/>
                <a:cs typeface="Calibri"/>
              </a:rPr>
              <a:t>bei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unseren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schwankenden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Messungen</a:t>
            </a:r>
            <a:r>
              <a:rPr lang="en-US">
                <a:ea typeface="Calibri"/>
                <a:cs typeface="Calibri"/>
              </a:rPr>
              <a:t> um </a:t>
            </a:r>
            <a:r>
              <a:rPr lang="en-US" err="1">
                <a:ea typeface="Calibri"/>
                <a:cs typeface="Calibri"/>
              </a:rPr>
              <a:t>einen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systematischen</a:t>
            </a:r>
            <a:r>
              <a:rPr lang="en-US">
                <a:ea typeface="Calibri"/>
                <a:cs typeface="Calibri"/>
              </a:rPr>
              <a:t> Fehler </a:t>
            </a:r>
            <a:r>
              <a:rPr lang="en-US" err="1">
                <a:ea typeface="Calibri"/>
                <a:cs typeface="Calibri"/>
              </a:rPr>
              <a:t>handelt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kann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diese</a:t>
            </a:r>
            <a:r>
              <a:rPr lang="en-US">
                <a:ea typeface="Calibri"/>
                <a:cs typeface="Calibri"/>
              </a:rPr>
              <a:t> Formel für </a:t>
            </a:r>
            <a:r>
              <a:rPr lang="en-US" err="1">
                <a:ea typeface="Calibri"/>
                <a:cs typeface="Calibri"/>
              </a:rPr>
              <a:t>unsere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Ergebnisse</a:t>
            </a:r>
            <a:r>
              <a:rPr lang="en-US">
                <a:ea typeface="Calibri"/>
                <a:cs typeface="Calibri"/>
              </a:rPr>
              <a:t> nicht </a:t>
            </a:r>
            <a:r>
              <a:rPr lang="en-US" err="1">
                <a:ea typeface="Calibri"/>
                <a:cs typeface="Calibri"/>
              </a:rPr>
              <a:t>verwendet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werden</a:t>
            </a:r>
            <a:r>
              <a:rPr lang="en-US">
                <a:ea typeface="Calibri"/>
                <a:cs typeface="Calibri"/>
              </a:rPr>
              <a:t>.</a:t>
            </a:r>
          </a:p>
          <a:p>
            <a:r>
              <a:rPr lang="en-US">
                <a:ea typeface="Calibri"/>
                <a:cs typeface="Calibri"/>
              </a:rPr>
              <a:t>Bei delta F und delta m </a:t>
            </a:r>
            <a:r>
              <a:rPr lang="en-US" err="1">
                <a:ea typeface="Calibri"/>
                <a:cs typeface="Calibri"/>
              </a:rPr>
              <a:t>würde</a:t>
            </a:r>
            <a:r>
              <a:rPr lang="en-US">
                <a:ea typeface="Calibri"/>
                <a:cs typeface="Calibri"/>
              </a:rPr>
              <a:t> man, </a:t>
            </a:r>
            <a:r>
              <a:rPr lang="en-US" err="1">
                <a:ea typeface="Calibri"/>
                <a:cs typeface="Calibri"/>
              </a:rPr>
              <a:t>wenn</a:t>
            </a:r>
            <a:r>
              <a:rPr lang="en-US">
                <a:ea typeface="Calibri"/>
                <a:cs typeface="Calibri"/>
              </a:rPr>
              <a:t> es </a:t>
            </a:r>
            <a:r>
              <a:rPr lang="en-US" err="1">
                <a:ea typeface="Calibri"/>
                <a:cs typeface="Calibri"/>
              </a:rPr>
              <a:t>keinen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systematischen</a:t>
            </a:r>
            <a:r>
              <a:rPr lang="en-US">
                <a:ea typeface="Calibri"/>
                <a:cs typeface="Calibri"/>
              </a:rPr>
              <a:t> Fehler </a:t>
            </a:r>
            <a:r>
              <a:rPr lang="en-US" err="1">
                <a:ea typeface="Calibri"/>
                <a:cs typeface="Calibri"/>
              </a:rPr>
              <a:t>gäbe</a:t>
            </a:r>
            <a:r>
              <a:rPr lang="en-US">
                <a:ea typeface="Calibri"/>
                <a:cs typeface="Calibri"/>
              </a:rPr>
              <a:t>, den </a:t>
            </a:r>
            <a:r>
              <a:rPr lang="en-US" err="1">
                <a:ea typeface="Calibri"/>
                <a:cs typeface="Calibri"/>
              </a:rPr>
              <a:t>Mittelwert</a:t>
            </a:r>
            <a:r>
              <a:rPr lang="en-US">
                <a:ea typeface="Calibri"/>
                <a:cs typeface="Calibri"/>
              </a:rPr>
              <a:t> von den </a:t>
            </a:r>
            <a:r>
              <a:rPr lang="en-US" err="1">
                <a:ea typeface="Calibri"/>
                <a:cs typeface="Calibri"/>
              </a:rPr>
              <a:t>gemessenen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Kräften</a:t>
            </a:r>
            <a:r>
              <a:rPr lang="en-US">
                <a:ea typeface="Calibri"/>
                <a:cs typeface="Calibri"/>
              </a:rPr>
              <a:t> und der </a:t>
            </a:r>
            <a:r>
              <a:rPr lang="en-US" err="1">
                <a:ea typeface="Calibri"/>
                <a:cs typeface="Calibri"/>
              </a:rPr>
              <a:t>Gewichten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verwenden</a:t>
            </a:r>
            <a:r>
              <a:rPr lang="en-US">
                <a:ea typeface="Calibri"/>
                <a:cs typeface="Calibri"/>
              </a:rPr>
              <a:t>.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E548093-E626-8424-2D5F-A9C0267206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6DFC7F-C3E0-4ADF-B19D-14921F6D01AB}" type="slidenum">
              <a:rPr lang="de-DE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21727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Measured / read friction force F [N] at newton meter ist der Mittelwert, für die Berechnung wurde der häufigste Wert aus den 3 Messungen verwendet.</a:t>
            </a:r>
          </a:p>
          <a:p>
            <a:r>
              <a:rPr lang="en-US"/>
              <a:t>Mean friction force: ist die Mittlere Reibungskraft. Hier wurden die Mittelwerte verwendet</a:t>
            </a:r>
          </a:p>
          <a:p>
            <a:r>
              <a:rPr lang="en-US"/>
              <a:t>Fluctuation range: ist der Schwankungsbereich. Hier wurde nur die mit dem stärksten Schwankung in die Tabelle eingefügt.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6DFC7F-C3E0-4ADF-B19D-14921F6D01AB}" type="slidenum">
              <a:rPr lang="de-DE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94223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>
            <a:extLst>
              <a:ext uri="{FF2B5EF4-FFF2-40B4-BE49-F238E27FC236}">
                <a16:creationId xmlns:a16="http://schemas.microsoft.com/office/drawing/2014/main" id="{558E6F2B-613B-9D88-13A9-B21D929D4D7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13"/>
              </a:spcBef>
            </a:pPr>
            <a:fld id="{4F91579B-4FDB-8E4A-B82D-26694909FCE8}" type="slidenum">
              <a:rPr lang="de-CH" altLang="de-CH" sz="1400" smtClean="0"/>
              <a:pPr>
                <a:spcBef>
                  <a:spcPts val="13"/>
                </a:spcBef>
              </a:pPr>
              <a:t>8</a:t>
            </a:fld>
            <a:endParaRPr lang="de-CH" altLang="de-CH" sz="1400"/>
          </a:p>
        </p:txBody>
      </p:sp>
      <p:sp>
        <p:nvSpPr>
          <p:cNvPr id="4099" name="Rectangle 1">
            <a:extLst>
              <a:ext uri="{FF2B5EF4-FFF2-40B4-BE49-F238E27FC236}">
                <a16:creationId xmlns:a16="http://schemas.microsoft.com/office/drawing/2014/main" id="{6F77BE33-18B7-BE3D-DCEB-2D54DA3F62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00" name="Rectangle 2">
            <a:extLst>
              <a:ext uri="{FF2B5EF4-FFF2-40B4-BE49-F238E27FC236}">
                <a16:creationId xmlns:a16="http://schemas.microsoft.com/office/drawing/2014/main" id="{D5A6D48C-AF3D-12D6-96FE-A08897D098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CH" altLang="de-CH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D51DBB-0B16-650D-AC76-520621D08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>
            <a:extLst>
              <a:ext uri="{FF2B5EF4-FFF2-40B4-BE49-F238E27FC236}">
                <a16:creationId xmlns:a16="http://schemas.microsoft.com/office/drawing/2014/main" id="{1DC836E0-AF1D-1970-172E-6E03833B737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13"/>
              </a:spcBef>
            </a:pPr>
            <a:fld id="{4F91579B-4FDB-8E4A-B82D-26694909FCE8}" type="slidenum">
              <a:rPr lang="de-CH" altLang="de-CH" sz="1400" smtClean="0"/>
              <a:pPr>
                <a:spcBef>
                  <a:spcPts val="13"/>
                </a:spcBef>
              </a:pPr>
              <a:t>9</a:t>
            </a:fld>
            <a:endParaRPr lang="de-CH" altLang="de-CH" sz="1400"/>
          </a:p>
        </p:txBody>
      </p:sp>
      <p:sp>
        <p:nvSpPr>
          <p:cNvPr id="4099" name="Rectangle 1">
            <a:extLst>
              <a:ext uri="{FF2B5EF4-FFF2-40B4-BE49-F238E27FC236}">
                <a16:creationId xmlns:a16="http://schemas.microsoft.com/office/drawing/2014/main" id="{F43F7803-AEBB-684E-DB4E-471580B89B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00" name="Rectangle 2">
            <a:extLst>
              <a:ext uri="{FF2B5EF4-FFF2-40B4-BE49-F238E27FC236}">
                <a16:creationId xmlns:a16="http://schemas.microsoft.com/office/drawing/2014/main" id="{705E1063-3322-E49D-7B55-0303418799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CH" altLang="de-CH"/>
          </a:p>
        </p:txBody>
      </p:sp>
    </p:spTree>
    <p:extLst>
      <p:ext uri="{BB962C8B-B14F-4D97-AF65-F5344CB8AC3E}">
        <p14:creationId xmlns:p14="http://schemas.microsoft.com/office/powerpoint/2010/main" val="36890702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E8B73E-60AA-F87E-90DE-2AA5B8335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>
            <a:extLst>
              <a:ext uri="{FF2B5EF4-FFF2-40B4-BE49-F238E27FC236}">
                <a16:creationId xmlns:a16="http://schemas.microsoft.com/office/drawing/2014/main" id="{80ED9E6C-9EA8-CECE-4075-EF620DA3BD0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13"/>
              </a:spcBef>
            </a:pPr>
            <a:fld id="{4F91579B-4FDB-8E4A-B82D-26694909FCE8}" type="slidenum">
              <a:rPr lang="de-CH" altLang="de-CH" sz="1400" smtClean="0"/>
              <a:pPr>
                <a:spcBef>
                  <a:spcPts val="13"/>
                </a:spcBef>
              </a:pPr>
              <a:t>10</a:t>
            </a:fld>
            <a:endParaRPr lang="de-CH" altLang="de-CH" sz="1400"/>
          </a:p>
        </p:txBody>
      </p:sp>
      <p:sp>
        <p:nvSpPr>
          <p:cNvPr id="4099" name="Rectangle 1">
            <a:extLst>
              <a:ext uri="{FF2B5EF4-FFF2-40B4-BE49-F238E27FC236}">
                <a16:creationId xmlns:a16="http://schemas.microsoft.com/office/drawing/2014/main" id="{1FD72B53-8124-04F9-93E8-EEF43A392B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00" name="Rectangle 2">
            <a:extLst>
              <a:ext uri="{FF2B5EF4-FFF2-40B4-BE49-F238E27FC236}">
                <a16:creationId xmlns:a16="http://schemas.microsoft.com/office/drawing/2014/main" id="{2881CDF0-52EB-6D34-C192-E719B9D85E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CH" altLang="de-CH"/>
          </a:p>
        </p:txBody>
      </p:sp>
    </p:spTree>
    <p:extLst>
      <p:ext uri="{BB962C8B-B14F-4D97-AF65-F5344CB8AC3E}">
        <p14:creationId xmlns:p14="http://schemas.microsoft.com/office/powerpoint/2010/main" val="2290771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2EA69-12DB-B8F7-8D9A-F2D4467FDB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AD5B4C-8E08-4D76-0360-E7008FF610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1D8F0-3429-9F8A-EB47-03057C913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24257-F740-994D-A588-D37FF01F14DE}" type="datetimeFigureOut">
              <a:rPr lang="en-CH" smtClean="0"/>
              <a:t>11/24/2025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52C0F-A6B4-37D9-02A1-C9639E397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24B78-E417-DCD8-9BBD-47775F391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F1F9B-B1B9-534E-B26E-FB4402A52264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8737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D80BF-28E8-B523-F041-03C5561AA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888DE-F757-2290-E99C-ECB0089A8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4C351-0D46-9C8C-A896-9AF7A7BF5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24257-F740-994D-A588-D37FF01F14DE}" type="datetimeFigureOut">
              <a:rPr lang="en-CH" smtClean="0"/>
              <a:t>11/24/2025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F1AC9-7752-7CCF-F8DC-B1163DB1B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0221-E1CA-8E75-6D87-634F8FB2D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F1F9B-B1B9-534E-B26E-FB4402A52264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19534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31FD1-50CC-5158-64CD-0B4A9438C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2F0568-8275-B364-BC1B-91C6EADE4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CAB8D-3845-D804-346E-3DE51E33E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24257-F740-994D-A588-D37FF01F14DE}" type="datetimeFigureOut">
              <a:rPr lang="en-CH" smtClean="0"/>
              <a:t>11/24/2025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1FE17-B8C1-0DE0-05A9-155C17EF6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A4D37-C6B5-F213-C7AA-5ED53CEDD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F1F9B-B1B9-534E-B26E-FB4402A52264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4280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21F44-08A6-FB66-666D-DEF91FF14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90F62-6487-7CAE-469A-C92E3AFE7B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804D28-5502-AF66-F64A-4252BE18EF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7852EA-4C79-116A-2652-9245319B5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24257-F740-994D-A588-D37FF01F14DE}" type="datetimeFigureOut">
              <a:rPr lang="en-CH" smtClean="0"/>
              <a:t>11/24/2025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3D7F06-F4D8-2123-4DF6-8B9B40C81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45C79C-4499-846E-92A8-1E17C44EF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F1F9B-B1B9-534E-B26E-FB4402A52264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544782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368F8-B5B9-C9DD-0F02-8E5FAB9BA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7DBD1-C1C7-A135-C5C6-3B64E7ACA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1B5E92-C9C5-3D5B-0BC6-EE75BF4EF5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30BA37-68C8-B193-29FE-31BCFA71E0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D84E3E-70C7-695E-F4E3-4BE67DAD2E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49821D-729A-FDD7-8CC3-97CB01A49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24257-F740-994D-A588-D37FF01F14DE}" type="datetimeFigureOut">
              <a:rPr lang="en-CH" smtClean="0"/>
              <a:t>11/24/2025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DD1641-AD20-137B-2C18-1B7A0EE74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1079A6-D803-1BF2-AC4B-7480889C2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F1F9B-B1B9-534E-B26E-FB4402A52264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283931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25BD2-E2CA-823B-F706-C1671EE44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A19049-1056-C3CD-23AA-D380039EE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24257-F740-994D-A588-D37FF01F14DE}" type="datetimeFigureOut">
              <a:rPr lang="en-CH" smtClean="0"/>
              <a:t>11/24/2025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3D920F-88F7-8D7B-BA4D-BBAF4237C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E02FE0-73D0-A750-F14D-D07378B30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F1F9B-B1B9-534E-B26E-FB4402A52264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07189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CE8F39-BB17-4897-1FCA-246758A83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24257-F740-994D-A588-D37FF01F14DE}" type="datetimeFigureOut">
              <a:rPr lang="en-CH" smtClean="0"/>
              <a:t>11/24/2025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B7436B-DE5A-3239-93CB-915A550FF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5CD5A-E458-207E-2E92-662DB3998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F1F9B-B1B9-534E-B26E-FB4402A52264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187067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D989E-C359-4A23-8886-E36D7891E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A485C-4135-BF4E-6978-4DBC941C7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9D32AC-D42A-0C6A-B44B-9B623D4D65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8C4A48-8D7E-4DEA-B650-2DF3ED060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24257-F740-994D-A588-D37FF01F14DE}" type="datetimeFigureOut">
              <a:rPr lang="en-CH" smtClean="0"/>
              <a:t>11/24/2025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E46ADB-1474-6CBE-F533-8DB24E2BD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83D196-341C-8219-2D30-5A0B7DFF1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F1F9B-B1B9-534E-B26E-FB4402A52264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98267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19EB9-21EF-66F0-4C5A-651D3D79B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34FA17-B182-1341-A263-4BA151C5E9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DE7028-9E1C-60F3-B295-AB11A9D3C0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932637-30DB-E8F5-BFA7-AD34B4AF8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24257-F740-994D-A588-D37FF01F14DE}" type="datetimeFigureOut">
              <a:rPr lang="en-CH" smtClean="0"/>
              <a:t>11/24/2025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0ECA1-E0E0-AD40-6AD8-2437550EB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519AB-5B4C-8FCF-CF48-5694E3720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F1F9B-B1B9-534E-B26E-FB4402A52264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61968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AE234-193E-23A3-4C27-09911A381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671271-5787-2045-39DE-081050DEEF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B6C6D-4495-0D8A-1F17-6CC97F9BF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24257-F740-994D-A588-D37FF01F14DE}" type="datetimeFigureOut">
              <a:rPr lang="en-CH" smtClean="0"/>
              <a:t>11/24/2025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CD568-FCE8-E7C6-7607-9A4E5C5A1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24128-7A10-0167-8D25-EF8F472A9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F1F9B-B1B9-534E-B26E-FB4402A52264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50656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1318DA-3D70-838B-5212-445B254508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E0E846-12B6-4E0F-386A-34565E92D9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3416A-4F55-CDDA-7DC5-B4860FFF7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24257-F740-994D-A588-D37FF01F14DE}" type="datetimeFigureOut">
              <a:rPr lang="en-CH" smtClean="0"/>
              <a:t>11/24/2025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41556-8E7B-D80D-06F6-23734D990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AC9CF-33F2-A24E-B6F1-B54D55E9C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F1F9B-B1B9-534E-B26E-FB4402A52264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29125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641" y="272631"/>
            <a:ext cx="10968959" cy="11423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B660FAB-4DEE-8B2D-EA58-8ADB4CC2E85E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H" altLang="en-CH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A9BDD63-FF72-6EF9-B7AD-553E9FBEE44D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H" altLang="en-CH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9DF0536-4D28-5707-0237-2AD442BCC22C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4E3F05-E612-CA43-9FB8-9D50F8B884C4}" type="slidenum">
              <a:rPr lang="en-CH" altLang="en-CH"/>
              <a:pPr>
                <a:defRPr/>
              </a:pPr>
              <a:t>‹Nr.›</a:t>
            </a:fld>
            <a:endParaRPr lang="en-CH" altLang="en-CH"/>
          </a:p>
        </p:txBody>
      </p:sp>
    </p:spTree>
    <p:extLst>
      <p:ext uri="{BB962C8B-B14F-4D97-AF65-F5344CB8AC3E}">
        <p14:creationId xmlns:p14="http://schemas.microsoft.com/office/powerpoint/2010/main" val="1885241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5B1BD5-A738-6BC3-CAA8-4ABD3D869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CFD4B8-3FC3-2AF5-9DB1-38627DA4D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E6F86-7FD4-27BE-934D-B031CAC7DA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124257-F740-994D-A588-D37FF01F14DE}" type="datetimeFigureOut">
              <a:rPr lang="en-CH" smtClean="0"/>
              <a:t>11/24/2025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FE8E3-56BE-ADDC-637A-A15BD5DA45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CE8DF-75E3-200A-0B5E-B039B5E412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EF1F9B-B1B9-534E-B26E-FB4402A52264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83416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VittelFreising/v10-fehlerrechnung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92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BE10A-7819-647A-2A54-5702C27A45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479675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CH" sz="6600" b="1"/>
              <a:t>Tribologie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C13E5A-88C5-0E6C-09BD-DA8895B77D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133600"/>
          </a:xfrm>
          <a:solidFill>
            <a:schemeClr val="bg1"/>
          </a:solidFill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CH" sz="2800"/>
              <a:t>D-MATL V10 </a:t>
            </a:r>
          </a:p>
          <a:p>
            <a:r>
              <a:rPr lang="en-CH" sz="2800" err="1"/>
              <a:t>Praktikum</a:t>
            </a:r>
            <a:r>
              <a:rPr lang="en-CH" sz="2800"/>
              <a:t> 1</a:t>
            </a:r>
          </a:p>
          <a:p>
            <a:r>
              <a:rPr lang="en-CH"/>
              <a:t>Gruppe 9</a:t>
            </a:r>
          </a:p>
          <a:p>
            <a:pPr>
              <a:spcBef>
                <a:spcPts val="400"/>
              </a:spcBef>
            </a:pPr>
            <a:r>
              <a:rPr lang="en-CH" sz="2000"/>
              <a:t>R</a:t>
            </a:r>
            <a:r>
              <a:rPr lang="en-GB" sz="2000"/>
              <a:t>u</a:t>
            </a:r>
            <a:r>
              <a:rPr lang="en-CH" sz="2000" err="1"/>
              <a:t>nji</a:t>
            </a:r>
            <a:r>
              <a:rPr lang="en-CH" sz="2000"/>
              <a:t> Dong, Grishma Ponnada, Jeanne </a:t>
            </a:r>
            <a:r>
              <a:rPr lang="en-CH" sz="2000" err="1"/>
              <a:t>Cathérine</a:t>
            </a:r>
            <a:r>
              <a:rPr lang="en-CH" sz="2000"/>
              <a:t> Mungo</a:t>
            </a:r>
          </a:p>
          <a:p>
            <a:pPr>
              <a:spcBef>
                <a:spcPts val="400"/>
              </a:spcBef>
            </a:pPr>
            <a:endParaRPr lang="en-CH" sz="2000"/>
          </a:p>
          <a:p>
            <a:pPr>
              <a:spcBef>
                <a:spcPts val="400"/>
              </a:spcBef>
            </a:pPr>
            <a:r>
              <a:rPr lang="en-CH" sz="2000"/>
              <a:t>24.11.2025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F722099-34B4-2983-8C9A-19044E75D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8794" y="6197871"/>
            <a:ext cx="1954949" cy="66047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458F31B-6A2F-1250-F050-10097E3AF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834" y="6195896"/>
            <a:ext cx="1497284" cy="66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784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488198-62CC-D4A6-FCB7-102F44B77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Inhalt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55F479B-7DC1-8E60-3171-AB924AB70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de-DE" sz="1200">
              <a:latin typeface="Arial"/>
              <a:cs typeface="Arial"/>
            </a:endParaRPr>
          </a:p>
          <a:p>
            <a:pPr marL="514350" indent="-514350">
              <a:buAutoNum type="arabicPeriod"/>
            </a:pPr>
            <a:r>
              <a:rPr lang="de-CH" noProof="0"/>
              <a:t>Versuchsaufbau</a:t>
            </a:r>
          </a:p>
          <a:p>
            <a:pPr marL="514350" indent="-514350">
              <a:buAutoNum type="arabicPeriod"/>
            </a:pPr>
            <a:r>
              <a:rPr lang="de-CH" noProof="0"/>
              <a:t>Ergebnisse</a:t>
            </a:r>
          </a:p>
          <a:p>
            <a:pPr marL="514350" indent="-514350">
              <a:buAutoNum type="arabicPeriod"/>
            </a:pPr>
            <a:r>
              <a:rPr lang="de-CH" noProof="0"/>
              <a:t>Fehlerrechnung</a:t>
            </a:r>
          </a:p>
          <a:p>
            <a:pPr marL="514350" indent="-514350">
              <a:buAutoNum type="arabicPeriod"/>
            </a:pPr>
            <a:r>
              <a:rPr lang="de-CH" noProof="0"/>
              <a:t>Diskussion</a:t>
            </a:r>
          </a:p>
          <a:p>
            <a:pPr marL="514350" indent="-514350">
              <a:buAutoNum type="arabicPeriod"/>
            </a:pPr>
            <a:r>
              <a:rPr lang="de-CH" noProof="0"/>
              <a:t>Anhang</a:t>
            </a:r>
            <a:br>
              <a:rPr lang="en-US"/>
            </a:br>
            <a:endParaRPr lang="en-US"/>
          </a:p>
          <a:p>
            <a:endParaRPr lang="de-D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C73BA2-557C-F9AE-7A4E-6A20F7CC52FD}"/>
              </a:ext>
            </a:extLst>
          </p:cNvPr>
          <p:cNvSpPr txBox="1"/>
          <p:nvPr/>
        </p:nvSpPr>
        <p:spPr>
          <a:xfrm>
            <a:off x="7536543" y="-446315"/>
            <a:ext cx="4873171" cy="7750629"/>
          </a:xfrm>
          <a:prstGeom prst="rect">
            <a:avLst/>
          </a:prstGeom>
          <a:solidFill>
            <a:srgbClr val="1792A0"/>
          </a:solidFill>
        </p:spPr>
        <p:txBody>
          <a:bodyPr wrap="square" rtlCol="0">
            <a:spAutoFit/>
          </a:bodyPr>
          <a:lstStyle/>
          <a:p>
            <a:endParaRPr lang="en-CH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DF2A7B1-79C3-903A-4A2B-30CD9994D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8794" y="6197871"/>
            <a:ext cx="1954949" cy="66047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8922642-55FB-554C-AABF-47AADA6DF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834" y="6195896"/>
            <a:ext cx="1497284" cy="66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437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92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A0C4-E0B9-B2F1-2F3C-4255ADBE4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>
                <a:solidFill>
                  <a:schemeClr val="bg1"/>
                </a:solidFill>
              </a:rPr>
              <a:t>Versuchsaufbau</a:t>
            </a:r>
          </a:p>
        </p:txBody>
      </p:sp>
      <p:pic>
        <p:nvPicPr>
          <p:cNvPr id="5" name="Content Placeholder 4" descr="A machine with a machine and a few small objects on a table&#10;&#10;AI-generated content may be incorrect.">
            <a:extLst>
              <a:ext uri="{FF2B5EF4-FFF2-40B4-BE49-F238E27FC236}">
                <a16:creationId xmlns:a16="http://schemas.microsoft.com/office/drawing/2014/main" id="{67FC398C-53D3-B1E1-4F53-FC9472BFE2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6683" b="10811"/>
          <a:stretch>
            <a:fillRect/>
          </a:stretch>
        </p:blipFill>
        <p:spPr>
          <a:xfrm>
            <a:off x="648565" y="1913200"/>
            <a:ext cx="6993921" cy="327870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53E3F4-4901-2DDB-B4FF-4342D30CA885}"/>
              </a:ext>
            </a:extLst>
          </p:cNvPr>
          <p:cNvSpPr txBox="1"/>
          <p:nvPr/>
        </p:nvSpPr>
        <p:spPr>
          <a:xfrm>
            <a:off x="7642486" y="1913200"/>
            <a:ext cx="3900949" cy="4339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139700"/>
            <a:r>
              <a:rPr lang="en-CH" sz="2400"/>
              <a:t>Material:</a:t>
            </a:r>
          </a:p>
          <a:p>
            <a:pPr marL="139700">
              <a:buFont typeface="+mj-lt"/>
              <a:buAutoNum type="arabicPeriod"/>
            </a:pPr>
            <a:r>
              <a:rPr lang="en-CH"/>
              <a:t> </a:t>
            </a:r>
            <a:r>
              <a:rPr lang="en-CH" err="1"/>
              <a:t>Laufband</a:t>
            </a:r>
            <a:endParaRPr lang="en-CH"/>
          </a:p>
          <a:p>
            <a:pPr marL="139700">
              <a:buFont typeface="+mj-lt"/>
              <a:buAutoNum type="arabicPeriod"/>
            </a:pPr>
            <a:r>
              <a:rPr lang="en-GB"/>
              <a:t> V</a:t>
            </a:r>
            <a:r>
              <a:rPr lang="en-CH" err="1"/>
              <a:t>eränderbare</a:t>
            </a:r>
            <a:r>
              <a:rPr lang="en-CH"/>
              <a:t> </a:t>
            </a:r>
            <a:r>
              <a:rPr lang="en-CH" err="1"/>
              <a:t>Spannungsquelle</a:t>
            </a:r>
            <a:endParaRPr lang="en-CH"/>
          </a:p>
          <a:p>
            <a:pPr marL="139700">
              <a:buFont typeface="+mj-lt"/>
              <a:buAutoNum type="arabicPeriod"/>
            </a:pPr>
            <a:r>
              <a:rPr lang="en-CH"/>
              <a:t> </a:t>
            </a:r>
            <a:r>
              <a:rPr lang="en-CH" err="1"/>
              <a:t>Klötze</a:t>
            </a:r>
            <a:r>
              <a:rPr lang="en-CH"/>
              <a:t> </a:t>
            </a:r>
            <a:r>
              <a:rPr lang="en-CH" err="1"/>
              <a:t>aus</a:t>
            </a:r>
            <a:r>
              <a:rPr lang="en-CH"/>
              <a:t> </a:t>
            </a:r>
            <a:r>
              <a:rPr lang="en-CH" err="1"/>
              <a:t>verschiedenen</a:t>
            </a:r>
            <a:r>
              <a:rPr lang="en-CH"/>
              <a:t> </a:t>
            </a:r>
            <a:r>
              <a:rPr lang="en-CH" err="1"/>
              <a:t>Materialien</a:t>
            </a:r>
            <a:r>
              <a:rPr lang="en-CH"/>
              <a:t> (Stahl, P</a:t>
            </a:r>
            <a:r>
              <a:rPr lang="en-GB"/>
              <a:t>o</a:t>
            </a:r>
            <a:r>
              <a:rPr lang="en-CH" err="1"/>
              <a:t>lyethylen</a:t>
            </a:r>
            <a:r>
              <a:rPr lang="en-CH"/>
              <a:t>, </a:t>
            </a:r>
            <a:r>
              <a:rPr lang="en-CH" err="1"/>
              <a:t>Polyisopren</a:t>
            </a:r>
            <a:r>
              <a:rPr lang="en-CH"/>
              <a:t>)</a:t>
            </a:r>
          </a:p>
          <a:p>
            <a:pPr marL="139700">
              <a:buFont typeface="+mj-lt"/>
              <a:buAutoNum type="arabicPeriod"/>
            </a:pPr>
            <a:r>
              <a:rPr lang="en-CH"/>
              <a:t> Z</a:t>
            </a:r>
            <a:r>
              <a:rPr lang="en-GB"/>
              <a:t>u</a:t>
            </a:r>
            <a:r>
              <a:rPr lang="en-CH" err="1"/>
              <a:t>sätzliche</a:t>
            </a:r>
            <a:r>
              <a:rPr lang="en-CH"/>
              <a:t> </a:t>
            </a:r>
            <a:r>
              <a:rPr lang="en-CH" err="1"/>
              <a:t>Gewichte</a:t>
            </a:r>
            <a:endParaRPr lang="en-CH"/>
          </a:p>
          <a:p>
            <a:pPr marL="139700">
              <a:buAutoNum type="arabicPeriod"/>
            </a:pPr>
            <a:r>
              <a:rPr lang="en-CH"/>
              <a:t>     </a:t>
            </a:r>
            <a:r>
              <a:rPr lang="en-CH" err="1"/>
              <a:t>Newtonmeter</a:t>
            </a:r>
            <a:r>
              <a:rPr lang="en-CH"/>
              <a:t> </a:t>
            </a:r>
          </a:p>
          <a:p>
            <a:endParaRPr lang="en-CH"/>
          </a:p>
          <a:p>
            <a:r>
              <a:rPr lang="en-CH" err="1"/>
              <a:t>Reibungskoeffizient</a:t>
            </a:r>
            <a:r>
              <a:rPr lang="en-CH"/>
              <a:t> </a:t>
            </a:r>
            <a:r>
              <a:rPr lang="en-CH">
                <a:solidFill>
                  <a:srgbClr val="101418"/>
                </a:solidFill>
              </a:rPr>
              <a:t>µ = F/(m*g)</a:t>
            </a:r>
          </a:p>
          <a:p>
            <a:r>
              <a:rPr lang="en-CH">
                <a:solidFill>
                  <a:srgbClr val="101418"/>
                </a:solidFill>
              </a:rPr>
              <a:t>F = </a:t>
            </a:r>
            <a:r>
              <a:rPr lang="en-CH" err="1">
                <a:solidFill>
                  <a:srgbClr val="101418"/>
                </a:solidFill>
              </a:rPr>
              <a:t>Reibungskraft</a:t>
            </a:r>
            <a:r>
              <a:rPr lang="en-CH">
                <a:solidFill>
                  <a:srgbClr val="101418"/>
                </a:solidFill>
              </a:rPr>
              <a:t> </a:t>
            </a:r>
            <a:r>
              <a:rPr lang="en-CH" err="1">
                <a:solidFill>
                  <a:srgbClr val="101418"/>
                </a:solidFill>
              </a:rPr>
              <a:t>gemessen</a:t>
            </a:r>
            <a:r>
              <a:rPr lang="en-CH">
                <a:solidFill>
                  <a:srgbClr val="101418"/>
                </a:solidFill>
              </a:rPr>
              <a:t> </a:t>
            </a:r>
            <a:r>
              <a:rPr lang="en-CH" err="1">
                <a:solidFill>
                  <a:srgbClr val="101418"/>
                </a:solidFill>
              </a:rPr>
              <a:t>mit</a:t>
            </a:r>
            <a:r>
              <a:rPr lang="en-CH">
                <a:solidFill>
                  <a:srgbClr val="101418"/>
                </a:solidFill>
              </a:rPr>
              <a:t> </a:t>
            </a:r>
            <a:r>
              <a:rPr lang="en-CH" err="1">
                <a:solidFill>
                  <a:srgbClr val="101418"/>
                </a:solidFill>
              </a:rPr>
              <a:t>Newtonmeter</a:t>
            </a:r>
          </a:p>
          <a:p>
            <a:r>
              <a:rPr lang="en-CH">
                <a:solidFill>
                  <a:srgbClr val="101418"/>
                </a:solidFill>
              </a:rPr>
              <a:t>m*g= </a:t>
            </a:r>
            <a:r>
              <a:rPr lang="en-CH" err="1">
                <a:solidFill>
                  <a:srgbClr val="101418"/>
                </a:solidFill>
              </a:rPr>
              <a:t>Normalkraft</a:t>
            </a:r>
            <a:endParaRPr lang="en-CH">
              <a:solidFill>
                <a:srgbClr val="101418"/>
              </a:solidFill>
            </a:endParaRPr>
          </a:p>
          <a:p>
            <a:r>
              <a:rPr lang="en-CH">
                <a:solidFill>
                  <a:srgbClr val="101418"/>
                </a:solidFill>
              </a:rPr>
              <a:t>m= Masse </a:t>
            </a:r>
          </a:p>
          <a:p>
            <a:endParaRPr lang="en-C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AE688A-9421-69EA-C914-D8B9B4D16076}"/>
              </a:ext>
            </a:extLst>
          </p:cNvPr>
          <p:cNvSpPr txBox="1"/>
          <p:nvPr/>
        </p:nvSpPr>
        <p:spPr>
          <a:xfrm>
            <a:off x="2618555" y="3615723"/>
            <a:ext cx="35953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CH" sz="240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D41420-E23F-4FDE-8BB7-0F5796F78F65}"/>
              </a:ext>
            </a:extLst>
          </p:cNvPr>
          <p:cNvSpPr txBox="1"/>
          <p:nvPr/>
        </p:nvSpPr>
        <p:spPr>
          <a:xfrm>
            <a:off x="6428555" y="3321719"/>
            <a:ext cx="35953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CH" sz="240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4B516F-D70D-3B0C-5599-F59D7C4E5196}"/>
              </a:ext>
            </a:extLst>
          </p:cNvPr>
          <p:cNvSpPr txBox="1"/>
          <p:nvPr/>
        </p:nvSpPr>
        <p:spPr>
          <a:xfrm>
            <a:off x="3832486" y="3677288"/>
            <a:ext cx="35953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CH" sz="240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7F2F5D-4929-81D6-611A-5AA95CED22CE}"/>
              </a:ext>
            </a:extLst>
          </p:cNvPr>
          <p:cNvSpPr txBox="1"/>
          <p:nvPr/>
        </p:nvSpPr>
        <p:spPr>
          <a:xfrm>
            <a:off x="1529551" y="4531132"/>
            <a:ext cx="35953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CH" sz="2400"/>
              <a:t>4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258A714-A13C-47E3-B891-761234FFB123}"/>
              </a:ext>
            </a:extLst>
          </p:cNvPr>
          <p:cNvCxnSpPr>
            <a:cxnSpLocks/>
          </p:cNvCxnSpPr>
          <p:nvPr/>
        </p:nvCxnSpPr>
        <p:spPr>
          <a:xfrm flipH="1" flipV="1">
            <a:off x="3457764" y="3428999"/>
            <a:ext cx="374721" cy="29521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C059003-E36C-9F32-7B34-F5D0D2CBF386}"/>
              </a:ext>
            </a:extLst>
          </p:cNvPr>
          <p:cNvCxnSpPr/>
          <p:nvPr/>
        </p:nvCxnSpPr>
        <p:spPr>
          <a:xfrm flipH="1">
            <a:off x="3911936" y="4138953"/>
            <a:ext cx="100317" cy="3921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A9B69990-ABAB-15DF-0A15-048AE51D7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8794" y="6197871"/>
            <a:ext cx="1954949" cy="66047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4A9B9C7-090C-2C77-EF31-65B7D9F470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3834" y="6195896"/>
            <a:ext cx="1497284" cy="664428"/>
          </a:xfrm>
          <a:prstGeom prst="rect">
            <a:avLst/>
          </a:prstGeom>
        </p:spPr>
      </p:pic>
      <p:sp>
        <p:nvSpPr>
          <p:cNvPr id="3" name="TextBox 7">
            <a:extLst>
              <a:ext uri="{FF2B5EF4-FFF2-40B4-BE49-F238E27FC236}">
                <a16:creationId xmlns:a16="http://schemas.microsoft.com/office/drawing/2014/main" id="{86A47611-81E1-33CE-4CD1-77CD2D7DA71B}"/>
              </a:ext>
            </a:extLst>
          </p:cNvPr>
          <p:cNvSpPr txBox="1"/>
          <p:nvPr/>
        </p:nvSpPr>
        <p:spPr>
          <a:xfrm>
            <a:off x="1707872" y="2965235"/>
            <a:ext cx="359535" cy="461665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H" sz="240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94179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>
            <a:extLst>
              <a:ext uri="{FF2B5EF4-FFF2-40B4-BE49-F238E27FC236}">
                <a16:creationId xmlns:a16="http://schemas.microsoft.com/office/drawing/2014/main" id="{39A7C198-EE76-8F04-0338-DD92A4FB9FA0}"/>
              </a:ext>
            </a:extLst>
          </p:cNvPr>
          <p:cNvSpPr txBox="1"/>
          <p:nvPr/>
        </p:nvSpPr>
        <p:spPr>
          <a:xfrm>
            <a:off x="-373487" y="-347730"/>
            <a:ext cx="13149329" cy="1944710"/>
          </a:xfrm>
          <a:prstGeom prst="rect">
            <a:avLst/>
          </a:prstGeom>
          <a:solidFill>
            <a:srgbClr val="1792A0"/>
          </a:solidFill>
        </p:spPr>
        <p:txBody>
          <a:bodyPr wrap="square" rtlCol="0">
            <a:spAutoFit/>
          </a:bodyPr>
          <a:lstStyle/>
          <a:p>
            <a:endParaRPr lang="en-CH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7C1E04D-81DC-DA7B-1CCC-EAADBAAE7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Experimentelle Beobachtung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55A0D8B-185F-72C5-2ECD-14D69DEDC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Beim Newtonmeter konnten keine definierten Einzelmesswerte abgelesen werden, weil es ständig Schwankungen/Schwingungen gab. Als Messwerte wurden dann die Schwankungsintervalle notiert. </a:t>
            </a:r>
          </a:p>
          <a:p>
            <a:r>
              <a:rPr lang="de-DE"/>
              <a:t>Diese Schwankungen werden als systematischer Fehler betrachtet, der in der Unvollkommenheit des Versuchsaufbaus begründet liegt. Deshalb wurden die Fehlerbalken in der Auswertung nicht über statistische </a:t>
            </a:r>
            <a:r>
              <a:rPr lang="de-DE" err="1"/>
              <a:t>Grössen</a:t>
            </a:r>
            <a:r>
              <a:rPr lang="de-DE"/>
              <a:t> bestimmt.</a:t>
            </a:r>
          </a:p>
        </p:txBody>
      </p:sp>
      <p:pic>
        <p:nvPicPr>
          <p:cNvPr id="7" name="图片 10">
            <a:extLst>
              <a:ext uri="{FF2B5EF4-FFF2-40B4-BE49-F238E27FC236}">
                <a16:creationId xmlns:a16="http://schemas.microsoft.com/office/drawing/2014/main" id="{38C759A3-E2CD-A999-BCDA-EAECA345C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8794" y="6197871"/>
            <a:ext cx="1954949" cy="660478"/>
          </a:xfrm>
          <a:prstGeom prst="rect">
            <a:avLst/>
          </a:prstGeom>
        </p:spPr>
      </p:pic>
      <p:pic>
        <p:nvPicPr>
          <p:cNvPr id="9" name="图片 12">
            <a:extLst>
              <a:ext uri="{FF2B5EF4-FFF2-40B4-BE49-F238E27FC236}">
                <a16:creationId xmlns:a16="http://schemas.microsoft.com/office/drawing/2014/main" id="{6E9C6C7F-EA5E-441E-B982-BB0AFB538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834" y="6195896"/>
            <a:ext cx="1497284" cy="66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088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159D15-8E68-4866-BD28-CEA23B573616}"/>
              </a:ext>
            </a:extLst>
          </p:cNvPr>
          <p:cNvSpPr txBox="1"/>
          <p:nvPr/>
        </p:nvSpPr>
        <p:spPr>
          <a:xfrm>
            <a:off x="-1094705" y="3428999"/>
            <a:ext cx="14422191" cy="3760015"/>
          </a:xfrm>
          <a:prstGeom prst="rect">
            <a:avLst/>
          </a:prstGeom>
          <a:solidFill>
            <a:srgbClr val="1792A0"/>
          </a:solidFill>
        </p:spPr>
        <p:txBody>
          <a:bodyPr wrap="square" rtlCol="0">
            <a:spAutoFit/>
          </a:bodyPr>
          <a:lstStyle/>
          <a:p>
            <a:endParaRPr lang="en-CH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6A404D4-BD7B-231C-9967-1B690FC2F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8794" y="6197871"/>
            <a:ext cx="1954949" cy="66047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EAFB197-E6AD-7F01-281B-B29CF5B707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3834" y="6195896"/>
            <a:ext cx="1497284" cy="664428"/>
          </a:xfrm>
          <a:prstGeom prst="rect">
            <a:avLst/>
          </a:prstGeom>
        </p:spPr>
      </p:pic>
      <p:pic>
        <p:nvPicPr>
          <p:cNvPr id="11" name="Inhaltsplatzhalter 10" descr="Ein Bild, das Text, Reih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73335FB4-1D87-C556-53F3-5D6BE815AF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771771" y="806756"/>
            <a:ext cx="10687537" cy="523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390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852296-325B-6B7B-EEBC-A9D8E0E4AEEA}"/>
              </a:ext>
            </a:extLst>
          </p:cNvPr>
          <p:cNvSpPr txBox="1"/>
          <p:nvPr/>
        </p:nvSpPr>
        <p:spPr>
          <a:xfrm>
            <a:off x="-1094705" y="3428999"/>
            <a:ext cx="14422191" cy="3760015"/>
          </a:xfrm>
          <a:prstGeom prst="rect">
            <a:avLst/>
          </a:prstGeom>
          <a:solidFill>
            <a:srgbClr val="1792A0"/>
          </a:solidFill>
        </p:spPr>
        <p:txBody>
          <a:bodyPr wrap="square" rtlCol="0">
            <a:spAutoFit/>
          </a:bodyPr>
          <a:lstStyle/>
          <a:p>
            <a:endParaRPr lang="en-CH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1A73B3B-8CDB-D5C8-CDE6-CE92CD056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8794" y="6197871"/>
            <a:ext cx="1954949" cy="66047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8A99AD2-4967-833C-FF30-75E4FE8F5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834" y="6195896"/>
            <a:ext cx="1497284" cy="664428"/>
          </a:xfrm>
          <a:prstGeom prst="rect">
            <a:avLst/>
          </a:prstGeom>
        </p:spPr>
      </p:pic>
      <p:pic>
        <p:nvPicPr>
          <p:cNvPr id="11" name="Inhaltsplatzhalter 10" descr="Ein Bild, das Text, Diagramm, Reihe, parallel enthält.&#10;&#10;KI-generierte Inhalte können fehlerhaft sein.">
            <a:extLst>
              <a:ext uri="{FF2B5EF4-FFF2-40B4-BE49-F238E27FC236}">
                <a16:creationId xmlns:a16="http://schemas.microsoft.com/office/drawing/2014/main" id="{2BA7B6D9-BE00-2598-1309-12F91F6A29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12320" y="635744"/>
            <a:ext cx="11174559" cy="5591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617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D531B7-D7E2-07E1-B1A5-22740B1236AA}"/>
              </a:ext>
            </a:extLst>
          </p:cNvPr>
          <p:cNvSpPr txBox="1"/>
          <p:nvPr/>
        </p:nvSpPr>
        <p:spPr>
          <a:xfrm>
            <a:off x="-1094705" y="3428999"/>
            <a:ext cx="14422191" cy="3760015"/>
          </a:xfrm>
          <a:prstGeom prst="rect">
            <a:avLst/>
          </a:prstGeom>
          <a:solidFill>
            <a:srgbClr val="1792A0"/>
          </a:solidFill>
        </p:spPr>
        <p:txBody>
          <a:bodyPr wrap="square" rtlCol="0">
            <a:spAutoFit/>
          </a:bodyPr>
          <a:lstStyle/>
          <a:p>
            <a:endParaRPr lang="en-CH"/>
          </a:p>
        </p:txBody>
      </p:sp>
      <p:pic>
        <p:nvPicPr>
          <p:cNvPr id="4" name="内容占位符 3" descr="图表&#10;&#10;AI 生成的内容可能不正确。">
            <a:extLst>
              <a:ext uri="{FF2B5EF4-FFF2-40B4-BE49-F238E27FC236}">
                <a16:creationId xmlns:a16="http://schemas.microsoft.com/office/drawing/2014/main" id="{1768A84C-0E1F-FC86-6188-55CA54BBFE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5043" y="255181"/>
            <a:ext cx="11612562" cy="58102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0804493-CCE7-4285-FACF-285451D39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8794" y="6197871"/>
            <a:ext cx="1954949" cy="66047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C65CD30-60FB-0F95-CCA1-B3FDA9C5B4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3834" y="6195896"/>
            <a:ext cx="1497284" cy="664428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622AAA9D-E96B-38FD-DDA0-03B825F69018}"/>
              </a:ext>
            </a:extLst>
          </p:cNvPr>
          <p:cNvSpPr txBox="1"/>
          <p:nvPr/>
        </p:nvSpPr>
        <p:spPr>
          <a:xfrm>
            <a:off x="837095" y="5654472"/>
            <a:ext cx="556556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400"/>
              <a:t>Geschwindigkeit Rollband ist proportional zu Motorspannung</a:t>
            </a:r>
          </a:p>
        </p:txBody>
      </p:sp>
    </p:spTree>
    <p:extLst>
      <p:ext uri="{BB962C8B-B14F-4D97-AF65-F5344CB8AC3E}">
        <p14:creationId xmlns:p14="http://schemas.microsoft.com/office/powerpoint/2010/main" val="1101688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F2B0A-ED9F-252F-5CEC-8B3BB2DA1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B9F419-A217-8F52-C1EE-B68EB8C46ADC}"/>
              </a:ext>
            </a:extLst>
          </p:cNvPr>
          <p:cNvSpPr txBox="1"/>
          <p:nvPr/>
        </p:nvSpPr>
        <p:spPr>
          <a:xfrm>
            <a:off x="-373487" y="-347730"/>
            <a:ext cx="13149329" cy="1944710"/>
          </a:xfrm>
          <a:prstGeom prst="rect">
            <a:avLst/>
          </a:prstGeom>
          <a:solidFill>
            <a:srgbClr val="1792A0"/>
          </a:solidFill>
        </p:spPr>
        <p:txBody>
          <a:bodyPr wrap="square" rtlCol="0">
            <a:spAutoFit/>
          </a:bodyPr>
          <a:lstStyle/>
          <a:p>
            <a:endParaRPr lang="en-CH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17C4CC6-BF36-0CE5-EC59-9385972B6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chemeClr val="bg1"/>
                </a:solidFill>
              </a:rPr>
              <a:t>Theoretische Fehlerfortpflanzung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28F3C55-CE8F-344F-0278-4A18AF55A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/>
          </a:p>
          <a:p>
            <a:pPr>
              <a:buFont typeface="Calibri,Sans-Serif" panose="020B0604020202020204" pitchFamily="34" charset="0"/>
              <a:buChar char="-"/>
            </a:pPr>
            <a:endParaRPr lang="de-DE" sz="2400"/>
          </a:p>
          <a:p>
            <a:pPr>
              <a:buFont typeface="Calibri" panose="020B0604020202020204" pitchFamily="34" charset="0"/>
              <a:buChar char="-"/>
            </a:pPr>
            <a:endParaRPr lang="de-DE" sz="2400"/>
          </a:p>
          <a:p>
            <a:pPr>
              <a:buFont typeface="Calibri" panose="020B0604020202020204" pitchFamily="34" charset="0"/>
              <a:buChar char="-"/>
            </a:pPr>
            <a:endParaRPr lang="de-DE" sz="2400"/>
          </a:p>
        </p:txBody>
      </p:sp>
      <p:pic>
        <p:nvPicPr>
          <p:cNvPr id="5" name="Grafik 4" descr="Ein Bild, das Text, Schrift, weiß, Handschrift enthält.&#10;&#10;KI-generierte Inhalte können fehlerhaft sein.">
            <a:extLst>
              <a:ext uri="{FF2B5EF4-FFF2-40B4-BE49-F238E27FC236}">
                <a16:creationId xmlns:a16="http://schemas.microsoft.com/office/drawing/2014/main" id="{4FB7091B-C3C4-0506-A76F-C7945AC53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34" y="3010378"/>
            <a:ext cx="5178136" cy="1616564"/>
          </a:xfrm>
          <a:prstGeom prst="rect">
            <a:avLst/>
          </a:prstGeom>
        </p:spPr>
      </p:pic>
      <p:pic>
        <p:nvPicPr>
          <p:cNvPr id="6" name="Grafik 5" descr="Ein Bild, das Schrift, Text, Diagramm, weiß enthält.&#10;&#10;KI-generierte Inhalte können fehlerhaft sein.">
            <a:extLst>
              <a:ext uri="{FF2B5EF4-FFF2-40B4-BE49-F238E27FC236}">
                <a16:creationId xmlns:a16="http://schemas.microsoft.com/office/drawing/2014/main" id="{4198B2C8-85C6-FA4D-0B62-E67C0485B0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5065" y="3135456"/>
            <a:ext cx="4417869" cy="1452995"/>
          </a:xfrm>
          <a:prstGeom prst="rect">
            <a:avLst/>
          </a:prstGeom>
        </p:spPr>
      </p:pic>
      <p:pic>
        <p:nvPicPr>
          <p:cNvPr id="7" name="Grafik 6" descr="Pfeil mit einer Linie: Gerade mit einfarbiger Füllung">
            <a:extLst>
              <a:ext uri="{FF2B5EF4-FFF2-40B4-BE49-F238E27FC236}">
                <a16:creationId xmlns:a16="http://schemas.microsoft.com/office/drawing/2014/main" id="{8D83E755-5ED3-5668-1733-E8D8BF759A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5750103" y="3357081"/>
            <a:ext cx="914400" cy="9144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AE8326B-0CDA-9E1A-FD9A-0253507D90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38794" y="6197871"/>
            <a:ext cx="1954949" cy="66047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0E92965-A764-9FB2-0B12-8995B8C13D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43834" y="6195896"/>
            <a:ext cx="1497284" cy="664428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56219784-70AC-EFA3-01D2-ED317D7255AD}"/>
              </a:ext>
            </a:extLst>
          </p:cNvPr>
          <p:cNvSpPr txBox="1"/>
          <p:nvPr/>
        </p:nvSpPr>
        <p:spPr>
          <a:xfrm>
            <a:off x="834080" y="1719648"/>
            <a:ext cx="10523834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solidFill>
                  <a:srgbClr val="101418"/>
                </a:solidFill>
              </a:rPr>
              <a:t>µ = F/(m*g)</a:t>
            </a:r>
          </a:p>
          <a:p>
            <a:r>
              <a:rPr lang="en-US" sz="2000" err="1">
                <a:solidFill>
                  <a:srgbClr val="101418"/>
                </a:solidFill>
              </a:rPr>
              <a:t>Δg</a:t>
            </a:r>
            <a:r>
              <a:rPr lang="en-US" sz="2000">
                <a:solidFill>
                  <a:srgbClr val="101418"/>
                </a:solidFill>
              </a:rPr>
              <a:t> von der </a:t>
            </a:r>
            <a:r>
              <a:rPr lang="en-US" sz="2000" err="1">
                <a:solidFill>
                  <a:srgbClr val="101418"/>
                </a:solidFill>
              </a:rPr>
              <a:t>Erdbeschleunigung</a:t>
            </a:r>
            <a:r>
              <a:rPr lang="en-US" sz="2000">
                <a:solidFill>
                  <a:srgbClr val="101418"/>
                </a:solidFill>
              </a:rPr>
              <a:t> g </a:t>
            </a:r>
            <a:r>
              <a:rPr lang="en-US" sz="2000" err="1">
                <a:solidFill>
                  <a:srgbClr val="101418"/>
                </a:solidFill>
              </a:rPr>
              <a:t>wird</a:t>
            </a:r>
            <a:r>
              <a:rPr lang="en-US" sz="2000">
                <a:solidFill>
                  <a:srgbClr val="101418"/>
                </a:solidFill>
              </a:rPr>
              <a:t> </a:t>
            </a:r>
            <a:r>
              <a:rPr lang="en-US" sz="2000" err="1">
                <a:solidFill>
                  <a:srgbClr val="101418"/>
                </a:solidFill>
              </a:rPr>
              <a:t>hier</a:t>
            </a:r>
            <a:r>
              <a:rPr lang="en-US" sz="2000">
                <a:solidFill>
                  <a:srgbClr val="101418"/>
                </a:solidFill>
              </a:rPr>
              <a:t> der </a:t>
            </a:r>
            <a:r>
              <a:rPr lang="en-US" sz="2000" err="1">
                <a:solidFill>
                  <a:srgbClr val="101418"/>
                </a:solidFill>
              </a:rPr>
              <a:t>Einfachheit</a:t>
            </a:r>
            <a:r>
              <a:rPr lang="en-US" sz="2000">
                <a:solidFill>
                  <a:srgbClr val="101418"/>
                </a:solidFill>
              </a:rPr>
              <a:t> </a:t>
            </a:r>
            <a:r>
              <a:rPr lang="en-US" sz="2000" err="1">
                <a:solidFill>
                  <a:srgbClr val="101418"/>
                </a:solidFill>
              </a:rPr>
              <a:t>halber</a:t>
            </a:r>
            <a:r>
              <a:rPr lang="en-US" sz="2000">
                <a:solidFill>
                  <a:srgbClr val="101418"/>
                </a:solidFill>
              </a:rPr>
              <a:t> nicht </a:t>
            </a:r>
            <a:r>
              <a:rPr lang="en-US" sz="2000" err="1">
                <a:solidFill>
                  <a:srgbClr val="101418"/>
                </a:solidFill>
              </a:rPr>
              <a:t>betrachtet</a:t>
            </a:r>
            <a:r>
              <a:rPr lang="en-US" sz="2000">
                <a:solidFill>
                  <a:srgbClr val="101418"/>
                </a:solidFill>
              </a:rPr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976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D485C8-3698-C05D-37F2-28631B868658}"/>
              </a:ext>
            </a:extLst>
          </p:cNvPr>
          <p:cNvSpPr txBox="1"/>
          <p:nvPr/>
        </p:nvSpPr>
        <p:spPr>
          <a:xfrm>
            <a:off x="-373487" y="-347730"/>
            <a:ext cx="13149329" cy="1944710"/>
          </a:xfrm>
          <a:prstGeom prst="rect">
            <a:avLst/>
          </a:prstGeom>
          <a:solidFill>
            <a:srgbClr val="1792A0"/>
          </a:solidFill>
        </p:spPr>
        <p:txBody>
          <a:bodyPr wrap="square" rtlCol="0">
            <a:spAutoFit/>
          </a:bodyPr>
          <a:lstStyle/>
          <a:p>
            <a:endParaRPr lang="en-CH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A39A2B4-AFF1-F7B8-CA07-115BA7166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chemeClr val="bg1"/>
                </a:solidFill>
              </a:rPr>
              <a:t>Hinweis für die Berechnungen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D4BD898-81DA-B925-E2FA-1D2A47DD8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Fluctuation range von F: [F</a:t>
            </a:r>
            <a:r>
              <a:rPr lang="en-US" sz="1900" baseline="-25000"/>
              <a:t>links</a:t>
            </a:r>
            <a:r>
              <a:rPr lang="en-US" sz="1900"/>
              <a:t>, </a:t>
            </a:r>
            <a:r>
              <a:rPr lang="en-US"/>
              <a:t>F</a:t>
            </a:r>
            <a:r>
              <a:rPr lang="en-US" sz="1300"/>
              <a:t>rechts</a:t>
            </a:r>
            <a:r>
              <a:rPr lang="en-US" dirty="0"/>
              <a:t>]</a:t>
            </a:r>
            <a:endParaRPr lang="de-DE" dirty="0"/>
          </a:p>
          <a:p>
            <a:pPr marL="0" indent="0">
              <a:buNone/>
            </a:pPr>
            <a:r>
              <a:rPr lang="en-US"/>
              <a:t>Mean friction force: &lt;F&gt;=(</a:t>
            </a:r>
            <a:r>
              <a:rPr lang="en-US" err="1"/>
              <a:t>F</a:t>
            </a:r>
            <a:r>
              <a:rPr lang="en-US" baseline="-25000" err="1"/>
              <a:t>links</a:t>
            </a:r>
            <a:r>
              <a:rPr lang="en-US" err="1"/>
              <a:t>+F</a:t>
            </a:r>
            <a:r>
              <a:rPr lang="en-US" baseline="-25000" err="1"/>
              <a:t>rechts</a:t>
            </a:r>
            <a:r>
              <a:rPr lang="en-US"/>
              <a:t>)/2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/>
              <a:t>Friction coefficient: µ=&lt;F&gt;/(m*g)</a:t>
            </a:r>
          </a:p>
          <a:p>
            <a:pPr>
              <a:buFont typeface="Calibri" panose="020B0604020202020204" pitchFamily="34" charset="0"/>
              <a:buChar char="-"/>
            </a:pPr>
            <a:endParaRPr lang="de-DE" sz="2400"/>
          </a:p>
          <a:p>
            <a:pPr>
              <a:buFont typeface="Calibri" panose="020B0604020202020204" pitchFamily="34" charset="0"/>
              <a:buChar char="-"/>
            </a:pPr>
            <a:r>
              <a:rPr lang="de-DE"/>
              <a:t>Die folgenden Tabellen zeigen 3 Beispiele wie die Fehlerbalken von 3 Messpunkten bestimmt worden sind.</a:t>
            </a:r>
            <a:endParaRPr lang="de-DE" sz="2400"/>
          </a:p>
          <a:p>
            <a:pPr>
              <a:buFont typeface="Calibri" panose="020B0604020202020204" pitchFamily="34" charset="0"/>
              <a:buChar char="-"/>
            </a:pPr>
            <a:endParaRPr lang="de-DE" sz="240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B29C047-EFB7-5387-C71A-0990FC141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8794" y="6197871"/>
            <a:ext cx="1954949" cy="66047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CACB8F6-B616-5053-3CAA-97F729DF8F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3834" y="6195896"/>
            <a:ext cx="1497284" cy="66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619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CACCC3-C2B9-57C3-506E-6816B27F4AC9}"/>
              </a:ext>
            </a:extLst>
          </p:cNvPr>
          <p:cNvSpPr txBox="1"/>
          <p:nvPr/>
        </p:nvSpPr>
        <p:spPr>
          <a:xfrm>
            <a:off x="-1094705" y="3428999"/>
            <a:ext cx="14422191" cy="3760015"/>
          </a:xfrm>
          <a:prstGeom prst="rect">
            <a:avLst/>
          </a:prstGeom>
          <a:solidFill>
            <a:srgbClr val="1792A0"/>
          </a:solidFill>
        </p:spPr>
        <p:txBody>
          <a:bodyPr wrap="square" rtlCol="0">
            <a:spAutoFit/>
          </a:bodyPr>
          <a:lstStyle/>
          <a:p>
            <a:endParaRPr lang="en-CH"/>
          </a:p>
        </p:txBody>
      </p:sp>
      <p:sp>
        <p:nvSpPr>
          <p:cNvPr id="3074" name="Rectangle 1">
            <a:extLst>
              <a:ext uri="{FF2B5EF4-FFF2-40B4-BE49-F238E27FC236}">
                <a16:creationId xmlns:a16="http://schemas.microsoft.com/office/drawing/2014/main" id="{B9B5410A-D392-E109-84A2-E412FDF323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8750" y="119031"/>
            <a:ext cx="11611754" cy="829411"/>
          </a:xfrm>
        </p:spPr>
        <p:txBody>
          <a:bodyPr>
            <a:normAutofit fontScale="90000"/>
          </a:bodyPr>
          <a:lstStyle>
            <a:defPPr>
              <a:defRPr lang="en-GB"/>
            </a:defPPr>
            <a:lvl1pPr algn="l" defTabSz="552938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cs"/>
              </a:defRPr>
            </a:lvl1pPr>
            <a:lvl2pPr marL="898524" indent="-345586" algn="l" defTabSz="552938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cs"/>
              </a:defRPr>
            </a:lvl2pPr>
            <a:lvl3pPr marL="1382344" indent="-276469" algn="l" defTabSz="552938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cs"/>
              </a:defRPr>
            </a:lvl3pPr>
            <a:lvl4pPr marL="1935282" indent="-276469" algn="l" defTabSz="552938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cs"/>
              </a:defRPr>
            </a:lvl4pPr>
            <a:lvl5pPr marL="2488220" indent="-276469" algn="l" defTabSz="552938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cs"/>
              </a:defRPr>
            </a:lvl5pPr>
            <a:lvl6pPr marL="2764688" algn="l" defTabSz="110587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cs"/>
              </a:defRPr>
            </a:lvl6pPr>
            <a:lvl7pPr marL="3317626" algn="l" defTabSz="110587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cs"/>
              </a:defRPr>
            </a:lvl7pPr>
            <a:lvl8pPr marL="3870564" algn="l" defTabSz="110587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cs"/>
              </a:defRPr>
            </a:lvl8pPr>
            <a:lvl9pPr marL="4423501" algn="l" defTabSz="110587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cs"/>
              </a:defRPr>
            </a:lvl9pPr>
          </a:lstStyle>
          <a:p>
            <a:pPr eaLnBrk="1">
              <a:tabLst>
                <a:tab pos="552938" algn="l"/>
                <a:tab pos="1105875" algn="l"/>
                <a:tab pos="1658813" algn="l"/>
                <a:tab pos="2211751" algn="l"/>
                <a:tab pos="2764688" algn="l"/>
                <a:tab pos="3317626" algn="l"/>
                <a:tab pos="3870564" algn="l"/>
                <a:tab pos="4423501" algn="l"/>
                <a:tab pos="4976439" algn="l"/>
                <a:tab pos="5529377" algn="l"/>
                <a:tab pos="6082314" algn="l"/>
                <a:tab pos="6635252" algn="l"/>
                <a:tab pos="7188190" algn="l"/>
                <a:tab pos="7741128" algn="l"/>
                <a:tab pos="8294065" algn="l"/>
                <a:tab pos="8847003" algn="l"/>
                <a:tab pos="9399941" algn="l"/>
                <a:tab pos="9952878" algn="l"/>
                <a:tab pos="10505816" algn="l"/>
                <a:tab pos="11058754" algn="l"/>
                <a:tab pos="11611691" algn="l"/>
              </a:tabLst>
            </a:pPr>
            <a:r>
              <a:rPr lang="de-CH" altLang="de-CH" sz="1900">
                <a:latin typeface="Arial"/>
                <a:ea typeface="Microsoft YaHei"/>
                <a:cs typeface="Arial"/>
              </a:rPr>
              <a:t>Material = Stahl+1+2          Mass m [kg] = 0.93070 		Area A [cm</a:t>
            </a:r>
            <a:r>
              <a:rPr lang="de-CH" altLang="de-CH" sz="1900" baseline="33000">
                <a:latin typeface="Arial"/>
                <a:ea typeface="Microsoft YaHei"/>
                <a:cs typeface="Arial"/>
              </a:rPr>
              <a:t>2</a:t>
            </a:r>
            <a:r>
              <a:rPr lang="de-CH" altLang="de-CH" sz="1900">
                <a:latin typeface="Arial"/>
                <a:ea typeface="Microsoft YaHei"/>
                <a:cs typeface="Arial"/>
              </a:rPr>
              <a:t>] =39	.000</a:t>
            </a:r>
            <a:r>
              <a:rPr lang="de-CH" sz="1900">
                <a:latin typeface="Arial"/>
                <a:ea typeface="Microsoft YaHei"/>
                <a:cs typeface="Arial"/>
              </a:rPr>
              <a:t>cm</a:t>
            </a:r>
            <a:r>
              <a:rPr lang="de-CH" sz="1900" baseline="30000">
                <a:latin typeface="Arial"/>
                <a:ea typeface="Microsoft YaHei"/>
                <a:cs typeface="Arial"/>
              </a:rPr>
              <a:t>2</a:t>
            </a:r>
            <a:r>
              <a:rPr lang="de-CH" altLang="de-CH" sz="1900" baseline="30000">
                <a:latin typeface="Arial"/>
                <a:ea typeface="Microsoft YaHei"/>
                <a:cs typeface="Arial"/>
              </a:rPr>
              <a:t>  </a:t>
            </a:r>
            <a:r>
              <a:rPr lang="de-CH" altLang="de-CH" sz="1900">
                <a:latin typeface="Arial"/>
                <a:ea typeface="Microsoft YaHei"/>
                <a:cs typeface="Arial"/>
              </a:rPr>
              <a:t>      </a:t>
            </a:r>
            <a:r>
              <a:rPr lang="de-CH" altLang="de-CH" sz="1900" err="1">
                <a:latin typeface="Arial"/>
                <a:ea typeface="Microsoft YaHei"/>
                <a:cs typeface="Arial"/>
              </a:rPr>
              <a:t>Voltage</a:t>
            </a:r>
            <a:r>
              <a:rPr lang="de-CH" altLang="de-CH" sz="1900">
                <a:latin typeface="Arial"/>
                <a:ea typeface="Microsoft YaHei"/>
                <a:cs typeface="Arial"/>
              </a:rPr>
              <a:t> U [V] = 5 V</a:t>
            </a:r>
            <a:br>
              <a:rPr lang="de-CH" altLang="de-CH" sz="1900"/>
            </a:br>
            <a:r>
              <a:rPr lang="de-CH" altLang="de-CH" sz="1900">
                <a:latin typeface="Arial"/>
                <a:ea typeface="Microsoft YaHei"/>
                <a:cs typeface="Arial"/>
              </a:rPr>
              <a:t>				                             </a:t>
            </a:r>
            <a:r>
              <a:rPr lang="de-CH" altLang="de-CH" sz="1900">
                <a:latin typeface="Symbol"/>
                <a:ea typeface="Microsoft YaHei"/>
                <a:sym typeface="Symbol"/>
              </a:rPr>
              <a:t></a:t>
            </a:r>
            <a:r>
              <a:rPr lang="de-CH" altLang="de-CH" sz="1900">
                <a:latin typeface="Arial"/>
                <a:ea typeface="Microsoft YaHei"/>
                <a:cs typeface="Arial"/>
              </a:rPr>
              <a:t>m = 0,1 g = 0,0001 kg</a:t>
            </a:r>
          </a:p>
        </p:txBody>
      </p:sp>
      <p:graphicFrame>
        <p:nvGraphicFramePr>
          <p:cNvPr id="2" name="Group 2">
            <a:extLst>
              <a:ext uri="{FF2B5EF4-FFF2-40B4-BE49-F238E27FC236}">
                <a16:creationId xmlns:a16="http://schemas.microsoft.com/office/drawing/2014/main" id="{18D8C2DE-454B-A6B1-E54B-515308D197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609998"/>
              </p:ext>
            </p:extLst>
          </p:nvPr>
        </p:nvGraphicFramePr>
        <p:xfrm>
          <a:off x="292045" y="944609"/>
          <a:ext cx="11601206" cy="5913394"/>
        </p:xfrm>
        <a:graphic>
          <a:graphicData uri="http://schemas.openxmlformats.org/drawingml/2006/table">
            <a:tbl>
              <a:tblPr/>
              <a:tblGrid>
                <a:gridCol w="1446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3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37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37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37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37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03512"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CH" altLang="en-CH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Measured / read friction force F [N] </a:t>
                      </a:r>
                    </a:p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at newton meter</a:t>
                      </a: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</a:pPr>
                      <a:r>
                        <a:rPr lang="en-CH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  <a:cs typeface="+mn-cs"/>
                        </a:rPr>
                        <a:t>F</a:t>
                      </a:r>
                      <a:r>
                        <a:rPr lang="en-CH" sz="1200" b="0" i="0" u="none" strike="noStrike" kern="1200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  <a:cs typeface="+mn-cs"/>
                        </a:rPr>
                        <a:t>1</a:t>
                      </a:r>
                      <a:r>
                        <a:rPr lang="en-CH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  <a:cs typeface="+mn-cs"/>
                        </a:rPr>
                        <a:t> = </a:t>
                      </a:r>
                      <a:r>
                        <a:rPr lang="de-DE" sz="12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2.35 - 2.8</a:t>
                      </a:r>
                      <a:endParaRPr lang="de-DE" sz="1200" b="0" i="0" u="none" strike="noStrike" kern="1200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Microsoft YaHei"/>
                        <a:cs typeface="+mn-cs"/>
                      </a:endParaRP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Font typeface="Times New Roman" panose="02020603050405020304" pitchFamily="18" charset="0"/>
                        <a:buNone/>
                      </a:pPr>
                      <a:r>
                        <a:rPr lang="de-DE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  <a:cs typeface="+mn-cs"/>
                        </a:rPr>
                        <a:t>F</a:t>
                      </a:r>
                      <a:r>
                        <a:rPr lang="de-DE" sz="1200" b="0" i="0" u="none" strike="noStrike" kern="1200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  <a:cs typeface="+mn-cs"/>
                        </a:rPr>
                        <a:t>2</a:t>
                      </a:r>
                      <a:r>
                        <a:rPr lang="de-DE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  <a:cs typeface="+mn-cs"/>
                        </a:rPr>
                        <a:t> = </a:t>
                      </a:r>
                      <a:r>
                        <a:rPr lang="de-DE" sz="12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2.35-2.8</a:t>
                      </a:r>
                      <a:endParaRPr lang="de-DE" sz="1200" b="0" i="0" u="none" strike="noStrike" kern="1200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Microsoft YaHei"/>
                        <a:cs typeface="+mn-cs"/>
                      </a:endParaRP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</a:pPr>
                      <a:r>
                        <a:rPr lang="en-CH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F</a:t>
                      </a:r>
                      <a:r>
                        <a:rPr lang="en-CH" sz="12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3</a:t>
                      </a:r>
                      <a:r>
                        <a:rPr lang="en-CH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= 2.45-2.80</a:t>
                      </a:r>
                      <a:endParaRPr kumimoji="0" lang="de-DE" sz="1200" b="0" i="0" u="none" strike="noStrike" cap="none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</a:pPr>
                      <a:r>
                        <a:rPr lang="zh-CN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  <a:cs typeface="+mn-cs"/>
                        </a:rPr>
                        <a:t>F</a:t>
                      </a:r>
                      <a:r>
                        <a:rPr lang="zh-CN" sz="1200" b="0" i="0" u="none" strike="noStrike" kern="1200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  <a:cs typeface="+mn-cs"/>
                        </a:rPr>
                        <a:t>4</a:t>
                      </a:r>
                      <a:r>
                        <a:rPr lang="zh-CN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  <a:cs typeface="+mn-cs"/>
                        </a:rPr>
                        <a:t>= </a:t>
                      </a:r>
                      <a:r>
                        <a:rPr lang="en-US" altLang="zh-CN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  <a:cs typeface="+mn-cs"/>
                        </a:rPr>
                        <a:t>N/A</a:t>
                      </a:r>
                      <a:endParaRPr lang="de-DE" altLang="zh-CN" sz="1200" b="0" i="0" u="none" strike="noStrike" kern="1200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Microsoft YaHei"/>
                        <a:cs typeface="+mn-cs"/>
                      </a:endParaRP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</a:pPr>
                      <a:r>
                        <a:rPr lang="zh-CN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  <a:cs typeface="+mn-cs"/>
                        </a:rPr>
                        <a:t>F</a:t>
                      </a:r>
                      <a:r>
                        <a:rPr lang="zh-CN" sz="1200" b="0" i="0" u="none" strike="noStrike" kern="1200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  <a:cs typeface="+mn-cs"/>
                        </a:rPr>
                        <a:t>5</a:t>
                      </a:r>
                      <a:r>
                        <a:rPr lang="zh-CN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  <a:cs typeface="+mn-cs"/>
                        </a:rPr>
                        <a:t> = </a:t>
                      </a:r>
                      <a:r>
                        <a:rPr lang="en-US" altLang="zh-CN" sz="12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N/A</a:t>
                      </a:r>
                      <a:endParaRPr lang="de-DE" altLang="zh-CN" sz="1200" b="0" i="0" u="none" strike="noStrike" kern="1200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Microsoft YaHei"/>
                        <a:cs typeface="+mn-cs"/>
                      </a:endParaRP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682"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CH" altLang="en-CH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Number n of measurements</a:t>
                      </a: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3</a:t>
                      </a:r>
                      <a:endParaRPr kumimoji="0" 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Microsoft YaHei"/>
                      </a:endParaRPr>
                    </a:p>
                  </a:txBody>
                  <a:tcPr marL="110588" marR="110588" marT="55294" marB="55294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7703"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CH" altLang="en-CH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Student factor t </a:t>
                      </a:r>
                      <a:r>
                        <a:rPr kumimoji="0" lang="en-CH" sz="1800" b="0" i="0" u="none" strike="noStrike" cap="none" normalizeH="0" baseline="-33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95 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(n-1) from tables in literature about statistics (for c </a:t>
                      </a:r>
                      <a:r>
                        <a:rPr kumimoji="0" lang="en-CH" sz="1800" b="0" i="0" u="none" strike="noStrike" cap="none" normalizeH="0" baseline="-33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95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)</a:t>
                      </a: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None/>
                      </a:pPr>
                      <a:r>
                        <a:rPr lang="en-US" sz="18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Nicht </a:t>
                      </a:r>
                      <a:r>
                        <a:rPr lang="en-US" sz="1800" b="0" i="0" u="none" strike="noStrike" cap="none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betrachtet</a:t>
                      </a:r>
                      <a:endParaRPr kumimoji="0" lang="en-CH" altLang="en-CH" sz="1800" b="0" i="0" u="none" strike="noStrike" cap="none" normalizeH="0" baseline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110588" marR="110588" marT="55294" marB="55294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682"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CH" altLang="en-CH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Mean friction force &lt;F&gt; [N]</a:t>
                      </a: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45720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8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2.5833</a:t>
                      </a:r>
                      <a:r>
                        <a:rPr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N</a:t>
                      </a:r>
                      <a:endParaRPr kumimoji="0" lang="en-CH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Microsoft YaHei"/>
                      </a:endParaRPr>
                    </a:p>
                  </a:txBody>
                  <a:tcPr marL="110588" marR="110588" marT="55294" marB="55294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256">
                <a:tc rowSpan="4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/>
                          <a:ea typeface="Microsoft YaHei"/>
                          <a:sym typeface="Symbol"/>
                        </a:rPr>
                        <a:t>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F [N] is the largest of</a:t>
                      </a:r>
                    </a:p>
                  </a:txBody>
                  <a:tcPr marL="43539" marR="43539" marT="43543" marB="43543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standard deviation 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/>
                          <a:ea typeface="Microsoft YaHei"/>
                          <a:sym typeface="Symbol"/>
                        </a:rPr>
                        <a:t></a:t>
                      </a:r>
                      <a:r>
                        <a:rPr kumimoji="0" lang="en-CH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 </a:t>
                      </a:r>
                      <a:r>
                        <a:rPr kumimoji="0" lang="en-CH" sz="1800" b="0" i="0" u="none" strike="noStrike" cap="none" normalizeH="0" baseline="-33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68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 [N]</a:t>
                      </a: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</a:pPr>
                      <a:r>
                        <a:rPr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Nicht </a:t>
                      </a:r>
                      <a:r>
                        <a:rPr lang="en-CH" sz="18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betrachtet</a:t>
                      </a:r>
                      <a:endParaRPr kumimoji="0" lang="en-CH" altLang="en-CH" sz="1800" b="0" i="0" u="none" strike="noStrike" cap="none" normalizeH="0" baseline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Microsoft YaHei"/>
                      </a:endParaRPr>
                    </a:p>
                  </a:txBody>
                  <a:tcPr marL="110588" marR="110588" marT="55294" marB="55294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256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confidence interval c </a:t>
                      </a:r>
                      <a:r>
                        <a:rPr kumimoji="0" lang="en-CH" sz="1800" b="0" i="0" u="none" strike="noStrike" cap="none" normalizeH="0" baseline="-33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95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 [N]</a:t>
                      </a: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None/>
                      </a:pPr>
                      <a:r>
                        <a:rPr lang="en-US" sz="18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Nicht </a:t>
                      </a:r>
                      <a:r>
                        <a:rPr lang="en-US" sz="1800" b="0" i="0" u="none" strike="noStrike" cap="none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betrachtet</a:t>
                      </a:r>
                      <a:endParaRPr kumimoji="0" lang="de-DE" sz="2000" err="1"/>
                    </a:p>
                  </a:txBody>
                  <a:tcPr marL="110588" marR="110588" marT="55294" marB="55294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256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error newton meter [N]</a:t>
                      </a: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CH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0.0500</a:t>
                      </a:r>
                      <a:endParaRPr kumimoji="0" lang="en-CH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Microsoft YaHei"/>
                      </a:endParaRPr>
                    </a:p>
                  </a:txBody>
                  <a:tcPr marL="110588" marR="110588" marT="55294" marB="55294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9597">
                <a:tc vMerge="1"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CH" altLang="en-CH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36000" marR="36000" marT="36004" marB="36004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fluctuation range of oscillating newton meter and cuboid on the conveyor belt (if any)</a:t>
                      </a: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</a:pPr>
                      <a:r>
                        <a:rPr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0.2250N</a:t>
                      </a:r>
                      <a:endParaRPr kumimoji="0" lang="zh-CN" altLang="en-US" sz="1800" b="0" i="0" u="none" strike="noStrike" cap="none" normalizeH="0" baseline="-25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Microsoft YaHei"/>
                      </a:endParaRPr>
                    </a:p>
                  </a:txBody>
                  <a:tcPr marL="110588" marR="110588" marT="55294" marB="55294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7256"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CH" altLang="en-CH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Friction coefficient 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/>
                          <a:ea typeface="Microsoft YaHei"/>
                          <a:sym typeface="Symbol"/>
                        </a:rPr>
                        <a:t>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 or &lt;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/>
                          <a:ea typeface="Microsoft YaHei"/>
                          <a:sym typeface="Symbol"/>
                        </a:rPr>
                        <a:t>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&gt; = &lt;F&gt;/(m g)</a:t>
                      </a: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45720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0.2829</a:t>
                      </a:r>
                      <a:endParaRPr kumimoji="0" lang="en-CH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Microsoft YaHei"/>
                      </a:endParaRPr>
                    </a:p>
                  </a:txBody>
                  <a:tcPr marL="110588" marR="110588" marT="55294" marB="55294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7256"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CH" altLang="en-CH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 [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/>
                          <a:ea typeface="Microsoft YaHei"/>
                          <a:sym typeface="Symbol"/>
                        </a:rPr>
                        <a:t>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F / (m g)] </a:t>
                      </a:r>
                      <a:r>
                        <a:rPr kumimoji="0" lang="en-CH" sz="1800" b="0" i="0" u="none" strike="noStrike" cap="none" normalizeH="0" baseline="33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2</a:t>
                      </a: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45720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0.0006</a:t>
                      </a:r>
                      <a:endParaRPr kumimoji="0" lang="en-CH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Microsoft YaHei"/>
                      </a:endParaRPr>
                    </a:p>
                  </a:txBody>
                  <a:tcPr marL="110588" marR="110588" marT="55294" marB="55294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7256"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CH" altLang="en-CH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[(F 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/>
                          <a:ea typeface="Microsoft YaHei"/>
                          <a:sym typeface="Symbol"/>
                        </a:rPr>
                        <a:t>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m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/>
                          <a:ea typeface="Microsoft YaHei"/>
                          <a:sym typeface="Symbol"/>
                        </a:rPr>
                        <a:t>) 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/ (m </a:t>
                      </a:r>
                      <a:r>
                        <a:rPr kumimoji="0" lang="en-CH" sz="1800" b="0" i="0" u="none" strike="noStrike" cap="none" normalizeH="0" baseline="33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2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 g)] </a:t>
                      </a:r>
                      <a:r>
                        <a:rPr kumimoji="0" lang="en-CH" sz="1800" b="0" i="0" u="none" strike="noStrike" cap="none" normalizeH="0" baseline="33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2</a:t>
                      </a: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45720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0.0000</a:t>
                      </a:r>
                      <a:endParaRPr kumimoji="0" lang="en-CH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Microsoft YaHei"/>
                      </a:endParaRPr>
                    </a:p>
                  </a:txBody>
                  <a:tcPr marL="110588" marR="110588" marT="55294" marB="55294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9682"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CH" altLang="en-CH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 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/>
                          <a:ea typeface="Microsoft YaHei"/>
                          <a:sym typeface="Symbol"/>
                        </a:rPr>
                        <a:t></a:t>
                      </a: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45720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0.0246</a:t>
                      </a:r>
                      <a:endParaRPr kumimoji="0" lang="en-CH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Microsoft YaHei"/>
                      </a:endParaRPr>
                    </a:p>
                  </a:txBody>
                  <a:tcPr marL="110588" marR="110588" marT="55294" marB="55294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318910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796A0-3DB3-D94F-B8AE-84AD63141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927643-B307-E883-5B02-42F02CE4C9A5}"/>
              </a:ext>
            </a:extLst>
          </p:cNvPr>
          <p:cNvSpPr txBox="1"/>
          <p:nvPr/>
        </p:nvSpPr>
        <p:spPr>
          <a:xfrm>
            <a:off x="-1094705" y="3428999"/>
            <a:ext cx="14422191" cy="3760015"/>
          </a:xfrm>
          <a:prstGeom prst="rect">
            <a:avLst/>
          </a:prstGeom>
          <a:solidFill>
            <a:srgbClr val="1792A0"/>
          </a:solidFill>
        </p:spPr>
        <p:txBody>
          <a:bodyPr wrap="square" rtlCol="0">
            <a:spAutoFit/>
          </a:bodyPr>
          <a:lstStyle/>
          <a:p>
            <a:endParaRPr lang="en-CH"/>
          </a:p>
        </p:txBody>
      </p:sp>
      <p:sp>
        <p:nvSpPr>
          <p:cNvPr id="3074" name="Rectangle 1">
            <a:extLst>
              <a:ext uri="{FF2B5EF4-FFF2-40B4-BE49-F238E27FC236}">
                <a16:creationId xmlns:a16="http://schemas.microsoft.com/office/drawing/2014/main" id="{9D157097-D61E-21B0-62D3-E6F9E5C4B8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8750" y="119031"/>
            <a:ext cx="11611754" cy="829411"/>
          </a:xfrm>
        </p:spPr>
        <p:txBody>
          <a:bodyPr>
            <a:normAutofit fontScale="90000"/>
          </a:bodyPr>
          <a:lstStyle>
            <a:defPPr>
              <a:defRPr lang="en-GB"/>
            </a:defPPr>
            <a:lvl1pPr algn="l" defTabSz="552938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cs"/>
              </a:defRPr>
            </a:lvl1pPr>
            <a:lvl2pPr marL="898524" indent="-345586" algn="l" defTabSz="552938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cs"/>
              </a:defRPr>
            </a:lvl2pPr>
            <a:lvl3pPr marL="1382344" indent="-276469" algn="l" defTabSz="552938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cs"/>
              </a:defRPr>
            </a:lvl3pPr>
            <a:lvl4pPr marL="1935282" indent="-276469" algn="l" defTabSz="552938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cs"/>
              </a:defRPr>
            </a:lvl4pPr>
            <a:lvl5pPr marL="2488220" indent="-276469" algn="l" defTabSz="552938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cs"/>
              </a:defRPr>
            </a:lvl5pPr>
            <a:lvl6pPr marL="2764688" algn="l" defTabSz="110587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cs"/>
              </a:defRPr>
            </a:lvl6pPr>
            <a:lvl7pPr marL="3317626" algn="l" defTabSz="110587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cs"/>
              </a:defRPr>
            </a:lvl7pPr>
            <a:lvl8pPr marL="3870564" algn="l" defTabSz="110587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cs"/>
              </a:defRPr>
            </a:lvl8pPr>
            <a:lvl9pPr marL="4423501" algn="l" defTabSz="110587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cs"/>
              </a:defRPr>
            </a:lvl9pPr>
          </a:lstStyle>
          <a:p>
            <a:pPr eaLnBrk="1">
              <a:tabLst>
                <a:tab pos="552938" algn="l"/>
                <a:tab pos="1105875" algn="l"/>
                <a:tab pos="1658813" algn="l"/>
                <a:tab pos="2211751" algn="l"/>
                <a:tab pos="2764688" algn="l"/>
                <a:tab pos="3317626" algn="l"/>
                <a:tab pos="3870564" algn="l"/>
                <a:tab pos="4423501" algn="l"/>
                <a:tab pos="4976439" algn="l"/>
                <a:tab pos="5529377" algn="l"/>
                <a:tab pos="6082314" algn="l"/>
                <a:tab pos="6635252" algn="l"/>
                <a:tab pos="7188190" algn="l"/>
                <a:tab pos="7741128" algn="l"/>
                <a:tab pos="8294065" algn="l"/>
                <a:tab pos="8847003" algn="l"/>
                <a:tab pos="9399941" algn="l"/>
                <a:tab pos="9952878" algn="l"/>
                <a:tab pos="10505816" algn="l"/>
                <a:tab pos="11058754" algn="l"/>
                <a:tab pos="11611691" algn="l"/>
              </a:tabLst>
            </a:pPr>
            <a:r>
              <a:rPr lang="de-CH" altLang="de-CH" sz="1900">
                <a:latin typeface="Arial"/>
                <a:ea typeface="Microsoft YaHei"/>
                <a:cs typeface="Arial"/>
              </a:rPr>
              <a:t>Material = </a:t>
            </a:r>
            <a:r>
              <a:rPr lang="de-CH" sz="1900">
                <a:latin typeface="Arial"/>
                <a:ea typeface="Microsoft YaHei"/>
                <a:cs typeface="Arial"/>
              </a:rPr>
              <a:t>Polyethylen (weiss)+1+2+3+4</a:t>
            </a:r>
            <a:r>
              <a:rPr lang="de-CH" altLang="de-CH" sz="1900">
                <a:latin typeface="Arial"/>
                <a:ea typeface="Microsoft YaHei"/>
                <a:cs typeface="Arial"/>
              </a:rPr>
              <a:t>          Mass m [kg] = </a:t>
            </a:r>
            <a:r>
              <a:rPr lang="de-CH" sz="1900">
                <a:latin typeface="Arial"/>
                <a:ea typeface="Microsoft YaHei"/>
                <a:cs typeface="Arial"/>
              </a:rPr>
              <a:t>1.3032</a:t>
            </a:r>
            <a:r>
              <a:rPr lang="de-CH" altLang="de-CH" sz="1900">
                <a:latin typeface="Arial"/>
                <a:ea typeface="Microsoft YaHei"/>
                <a:cs typeface="Arial"/>
              </a:rPr>
              <a:t> 	Area A [cm</a:t>
            </a:r>
            <a:r>
              <a:rPr lang="de-CH" altLang="de-CH" sz="1900" baseline="33000">
                <a:latin typeface="Arial"/>
                <a:ea typeface="Microsoft YaHei"/>
                <a:cs typeface="Arial"/>
              </a:rPr>
              <a:t>2</a:t>
            </a:r>
            <a:r>
              <a:rPr lang="de-CH" altLang="de-CH" sz="1900">
                <a:latin typeface="Arial"/>
                <a:ea typeface="Microsoft YaHei"/>
                <a:cs typeface="Arial"/>
              </a:rPr>
              <a:t>] =40	.000</a:t>
            </a:r>
            <a:r>
              <a:rPr lang="de-CH" sz="1900">
                <a:latin typeface="Arial"/>
                <a:ea typeface="Microsoft YaHei"/>
                <a:cs typeface="Arial"/>
              </a:rPr>
              <a:t>cm</a:t>
            </a:r>
            <a:r>
              <a:rPr lang="de-CH" sz="1900" baseline="30000">
                <a:latin typeface="Arial"/>
                <a:ea typeface="Microsoft YaHei"/>
                <a:cs typeface="Arial"/>
              </a:rPr>
              <a:t>2</a:t>
            </a:r>
            <a:r>
              <a:rPr lang="de-CH" altLang="de-CH" sz="1900" baseline="30000">
                <a:latin typeface="Arial"/>
                <a:ea typeface="Microsoft YaHei"/>
                <a:cs typeface="Arial"/>
              </a:rPr>
              <a:t>  </a:t>
            </a:r>
            <a:r>
              <a:rPr lang="de-CH" altLang="de-CH" sz="1900">
                <a:latin typeface="Arial"/>
                <a:ea typeface="Microsoft YaHei"/>
                <a:cs typeface="Arial"/>
              </a:rPr>
              <a:t>      </a:t>
            </a:r>
            <a:r>
              <a:rPr lang="de-CH" altLang="de-CH" sz="1900" err="1">
                <a:latin typeface="Arial"/>
                <a:ea typeface="Microsoft YaHei"/>
                <a:cs typeface="Arial"/>
              </a:rPr>
              <a:t>Voltage</a:t>
            </a:r>
            <a:r>
              <a:rPr lang="de-CH" altLang="de-CH" sz="1900">
                <a:latin typeface="Arial"/>
                <a:ea typeface="Microsoft YaHei"/>
                <a:cs typeface="Arial"/>
              </a:rPr>
              <a:t> U [V] = 5 V</a:t>
            </a:r>
            <a:br>
              <a:rPr lang="de-CH" altLang="de-CH" sz="1900"/>
            </a:br>
            <a:r>
              <a:rPr lang="de-CH" altLang="de-CH" sz="1900">
                <a:latin typeface="Arial"/>
                <a:ea typeface="Microsoft YaHei"/>
                <a:cs typeface="Arial"/>
              </a:rPr>
              <a:t>				                             </a:t>
            </a:r>
            <a:r>
              <a:rPr lang="de-CH" altLang="de-CH" sz="1900">
                <a:latin typeface="Symbol"/>
                <a:ea typeface="Microsoft YaHei"/>
                <a:sym typeface="Symbol"/>
              </a:rPr>
              <a:t></a:t>
            </a:r>
            <a:r>
              <a:rPr lang="de-CH" altLang="de-CH" sz="1900">
                <a:latin typeface="Arial"/>
                <a:ea typeface="Microsoft YaHei"/>
                <a:cs typeface="Arial"/>
              </a:rPr>
              <a:t>m = 0,1 g = 0,0001 kg</a:t>
            </a:r>
          </a:p>
        </p:txBody>
      </p:sp>
      <p:graphicFrame>
        <p:nvGraphicFramePr>
          <p:cNvPr id="2" name="Group 2">
            <a:extLst>
              <a:ext uri="{FF2B5EF4-FFF2-40B4-BE49-F238E27FC236}">
                <a16:creationId xmlns:a16="http://schemas.microsoft.com/office/drawing/2014/main" id="{54744FEB-04FE-98BF-9E0C-F750B6E676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679074"/>
              </p:ext>
            </p:extLst>
          </p:nvPr>
        </p:nvGraphicFramePr>
        <p:xfrm>
          <a:off x="292045" y="944609"/>
          <a:ext cx="11601206" cy="5913394"/>
        </p:xfrm>
        <a:graphic>
          <a:graphicData uri="http://schemas.openxmlformats.org/drawingml/2006/table">
            <a:tbl>
              <a:tblPr/>
              <a:tblGrid>
                <a:gridCol w="1446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3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37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37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37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37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03512"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CH" altLang="en-CH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Measured / read friction force F [N] </a:t>
                      </a:r>
                    </a:p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at newton meter</a:t>
                      </a: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</a:pPr>
                      <a:r>
                        <a:rPr lang="en-CH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  <a:cs typeface="+mn-cs"/>
                        </a:rPr>
                        <a:t>F</a:t>
                      </a:r>
                      <a:r>
                        <a:rPr lang="en-CH" sz="1200" b="0" i="0" u="none" strike="noStrike" kern="1200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  <a:cs typeface="+mn-cs"/>
                        </a:rPr>
                        <a:t>1</a:t>
                      </a:r>
                      <a:r>
                        <a:rPr lang="en-CH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  <a:cs typeface="+mn-cs"/>
                        </a:rPr>
                        <a:t> = </a:t>
                      </a:r>
                      <a:r>
                        <a:rPr lang="de-DE" sz="12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1.80-2.05</a:t>
                      </a:r>
                      <a:endParaRPr lang="de-DE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Microsoft YaHei"/>
                        <a:cs typeface="+mn-cs"/>
                      </a:endParaRP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Font typeface="Times New Roman" panose="02020603050405020304" pitchFamily="18" charset="0"/>
                        <a:buNone/>
                      </a:pPr>
                      <a:r>
                        <a:rPr lang="de-DE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  <a:cs typeface="+mn-cs"/>
                        </a:rPr>
                        <a:t>F</a:t>
                      </a:r>
                      <a:r>
                        <a:rPr lang="de-DE" sz="1200" b="0" i="0" u="none" strike="noStrike" kern="1200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  <a:cs typeface="+mn-cs"/>
                        </a:rPr>
                        <a:t>2</a:t>
                      </a:r>
                      <a:r>
                        <a:rPr lang="de-DE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  <a:cs typeface="+mn-cs"/>
                        </a:rPr>
                        <a:t> = 1.75-2.00</a:t>
                      </a: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</a:pPr>
                      <a:r>
                        <a:rPr lang="en-CH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F</a:t>
                      </a:r>
                      <a:r>
                        <a:rPr lang="en-CH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3</a:t>
                      </a:r>
                      <a:r>
                        <a:rPr lang="en-CH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= </a:t>
                      </a:r>
                      <a:r>
                        <a:rPr lang="de-DE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1.75-2.05</a:t>
                      </a:r>
                      <a:endParaRPr kumimoji="0" lang="de-DE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Microsoft YaHei"/>
                      </a:endParaRP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</a:pPr>
                      <a:r>
                        <a:rPr lang="zh-CN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  <a:cs typeface="+mn-cs"/>
                        </a:rPr>
                        <a:t>F</a:t>
                      </a:r>
                      <a:r>
                        <a:rPr lang="zh-CN" sz="1200" b="0" i="0" u="none" strike="noStrike" kern="1200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  <a:cs typeface="+mn-cs"/>
                        </a:rPr>
                        <a:t>4</a:t>
                      </a:r>
                      <a:r>
                        <a:rPr lang="zh-CN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  <a:cs typeface="+mn-cs"/>
                        </a:rPr>
                        <a:t>= </a:t>
                      </a:r>
                      <a:r>
                        <a:rPr lang="en-US" altLang="zh-CN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  <a:cs typeface="+mn-cs"/>
                        </a:rPr>
                        <a:t>N/A</a:t>
                      </a:r>
                      <a:endParaRPr lang="de-DE" altLang="zh-CN" sz="1200" b="0" i="0" u="none" strike="noStrike" kern="1200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Microsoft YaHei"/>
                        <a:cs typeface="+mn-cs"/>
                      </a:endParaRP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</a:pPr>
                      <a:r>
                        <a:rPr lang="zh-CN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  <a:cs typeface="+mn-cs"/>
                        </a:rPr>
                        <a:t>F</a:t>
                      </a:r>
                      <a:r>
                        <a:rPr lang="zh-CN" sz="1200" b="0" i="0" u="none" strike="noStrike" kern="1200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  <a:cs typeface="+mn-cs"/>
                        </a:rPr>
                        <a:t>5</a:t>
                      </a:r>
                      <a:r>
                        <a:rPr lang="zh-CN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  <a:cs typeface="+mn-cs"/>
                        </a:rPr>
                        <a:t> = </a:t>
                      </a:r>
                      <a:r>
                        <a:rPr lang="en-US" altLang="zh-CN" sz="12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N/A</a:t>
                      </a:r>
                      <a:endParaRPr lang="de-DE" altLang="zh-CN" sz="1200" b="0" i="0" u="none" strike="noStrike" kern="1200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Microsoft YaHei"/>
                        <a:cs typeface="+mn-cs"/>
                      </a:endParaRP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682"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CH" altLang="en-CH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alt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Number n of measurements</a:t>
                      </a: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3</a:t>
                      </a:r>
                      <a:endParaRPr kumimoji="0" 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Microsoft YaHei"/>
                      </a:endParaRPr>
                    </a:p>
                  </a:txBody>
                  <a:tcPr marL="110588" marR="110588" marT="55294" marB="55294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7703"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CH" altLang="en-CH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alt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Student factor t </a:t>
                      </a:r>
                      <a:r>
                        <a:rPr kumimoji="0" lang="en-CH" altLang="en-CH" sz="1800" b="0" i="0" u="none" strike="noStrike" cap="none" normalizeH="0" baseline="-33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95 </a:t>
                      </a:r>
                      <a:r>
                        <a:rPr kumimoji="0" lang="en-CH" alt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(n-1) from tables in literature about statistics (for c </a:t>
                      </a:r>
                      <a:r>
                        <a:rPr kumimoji="0" lang="en-CH" altLang="en-CH" sz="1800" b="0" i="0" u="none" strike="noStrike" cap="none" normalizeH="0" baseline="-33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95</a:t>
                      </a:r>
                      <a:r>
                        <a:rPr kumimoji="0" lang="en-CH" alt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)</a:t>
                      </a: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None/>
                      </a:pPr>
                      <a:r>
                        <a:rPr lang="en-US" sz="18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Nicht </a:t>
                      </a:r>
                      <a:r>
                        <a:rPr lang="en-US" sz="1800" b="0" i="0" u="none" strike="noStrike" cap="none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betrachtet</a:t>
                      </a:r>
                      <a:endParaRPr kumimoji="0" lang="en-CH" altLang="en-CH" sz="1800" b="0" i="0" u="none" strike="noStrike" cap="none" normalizeH="0" baseline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110588" marR="110588" marT="55294" marB="55294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682"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CH" altLang="en-CH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Mean friction force &lt;F&gt; [N]</a:t>
                      </a: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45720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8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1.9000</a:t>
                      </a:r>
                      <a:r>
                        <a:rPr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N</a:t>
                      </a:r>
                      <a:endParaRPr kumimoji="0" lang="en-CH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Microsoft YaHei"/>
                      </a:endParaRPr>
                    </a:p>
                  </a:txBody>
                  <a:tcPr marL="110588" marR="110588" marT="55294" marB="55294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256">
                <a:tc rowSpan="4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/>
                          <a:ea typeface="Microsoft YaHei"/>
                          <a:sym typeface="Symbol"/>
                        </a:rPr>
                        <a:t>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F [N] is the largest of</a:t>
                      </a:r>
                    </a:p>
                  </a:txBody>
                  <a:tcPr marL="43539" marR="43539" marT="43543" marB="43543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standard deviation 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/>
                          <a:ea typeface="Microsoft YaHei"/>
                          <a:sym typeface="Symbol"/>
                        </a:rPr>
                        <a:t></a:t>
                      </a:r>
                      <a:r>
                        <a:rPr kumimoji="0" lang="en-CH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 </a:t>
                      </a:r>
                      <a:r>
                        <a:rPr kumimoji="0" lang="en-CH" sz="1800" b="0" i="0" u="none" strike="noStrike" cap="none" normalizeH="0" baseline="-33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68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 [N]</a:t>
                      </a: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</a:pPr>
                      <a:r>
                        <a:rPr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Nicht </a:t>
                      </a:r>
                      <a:r>
                        <a:rPr lang="en-CH" sz="18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betrachtet</a:t>
                      </a:r>
                      <a:endParaRPr kumimoji="0" lang="en-CH" altLang="en-CH" sz="1800" b="0" i="0" u="none" strike="noStrike" cap="none" normalizeH="0" baseline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Microsoft YaHei"/>
                      </a:endParaRPr>
                    </a:p>
                  </a:txBody>
                  <a:tcPr marL="110588" marR="110588" marT="55294" marB="55294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256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confidence interval c </a:t>
                      </a:r>
                      <a:r>
                        <a:rPr kumimoji="0" lang="en-CH" sz="1800" b="0" i="0" u="none" strike="noStrike" cap="none" normalizeH="0" baseline="-33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95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 [N]</a:t>
                      </a: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None/>
                      </a:pPr>
                      <a:r>
                        <a:rPr lang="en-US" sz="18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Nicht </a:t>
                      </a:r>
                      <a:r>
                        <a:rPr lang="en-US" sz="1800" b="0" i="0" u="none" strike="noStrike" cap="none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betrachtet</a:t>
                      </a:r>
                      <a:endParaRPr kumimoji="0" lang="de-DE" sz="2000" err="1"/>
                    </a:p>
                  </a:txBody>
                  <a:tcPr marL="110588" marR="110588" marT="55294" marB="55294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256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error newton meter [N]</a:t>
                      </a: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CH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0.0500</a:t>
                      </a:r>
                      <a:endParaRPr kumimoji="0" lang="en-CH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Microsoft YaHei"/>
                      </a:endParaRPr>
                    </a:p>
                  </a:txBody>
                  <a:tcPr marL="110588" marR="110588" marT="55294" marB="55294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9597">
                <a:tc vMerge="1"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CH" altLang="en-CH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36000" marR="36000" marT="36004" marB="36004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fluctuation range of oscillating newton meter and cuboid on the conveyor belt (if any)</a:t>
                      </a: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None/>
                      </a:pPr>
                      <a:r>
                        <a:rPr lang="en-US" altLang="zh-CN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0.1500</a:t>
                      </a:r>
                      <a:r>
                        <a:rPr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N</a:t>
                      </a:r>
                      <a:endParaRPr kumimoji="0" lang="zh-CN" altLang="en-US" sz="1800" b="0" i="0" u="none" strike="noStrike" cap="none" normalizeH="0" baseline="-25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Microsoft YaHei"/>
                      </a:endParaRPr>
                    </a:p>
                  </a:txBody>
                  <a:tcPr marL="110588" marR="110588" marT="55294" marB="55294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7256"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CH" altLang="en-CH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Friction coefficient 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/>
                          <a:ea typeface="Microsoft YaHei"/>
                          <a:sym typeface="Symbol"/>
                        </a:rPr>
                        <a:t>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 or &lt;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/>
                          <a:ea typeface="Microsoft YaHei"/>
                          <a:sym typeface="Symbol"/>
                        </a:rPr>
                        <a:t>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&gt; = &lt;F&gt;/(m g)</a:t>
                      </a: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45720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0.1486</a:t>
                      </a:r>
                      <a:endParaRPr kumimoji="0" lang="zh-CN" altLang="en-US" dirty="0"/>
                    </a:p>
                  </a:txBody>
                  <a:tcPr marL="110588" marR="110588" marT="55294" marB="55294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7256"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CH" altLang="en-CH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 [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/>
                          <a:ea typeface="Microsoft YaHei"/>
                          <a:sym typeface="Symbol"/>
                        </a:rPr>
                        <a:t>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F / (m g)] </a:t>
                      </a:r>
                      <a:r>
                        <a:rPr kumimoji="0" lang="en-CH" sz="1800" b="0" i="0" u="none" strike="noStrike" cap="none" normalizeH="0" baseline="33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2</a:t>
                      </a: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45720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0.0001</a:t>
                      </a:r>
                      <a:endParaRPr kumimoji="0" lang="zh-CN" altLang="en-US" dirty="0"/>
                    </a:p>
                  </a:txBody>
                  <a:tcPr marL="110588" marR="110588" marT="55294" marB="55294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7256"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CH" altLang="en-CH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[(F 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/>
                          <a:ea typeface="Microsoft YaHei"/>
                          <a:sym typeface="Symbol"/>
                        </a:rPr>
                        <a:t>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m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/>
                          <a:ea typeface="Microsoft YaHei"/>
                          <a:sym typeface="Symbol"/>
                        </a:rPr>
                        <a:t>) 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/ (m </a:t>
                      </a:r>
                      <a:r>
                        <a:rPr kumimoji="0" lang="en-CH" sz="1800" b="0" i="0" u="none" strike="noStrike" cap="none" normalizeH="0" baseline="33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2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 g)] </a:t>
                      </a:r>
                      <a:r>
                        <a:rPr kumimoji="0" lang="en-CH" sz="1800" b="0" i="0" u="none" strike="noStrike" cap="none" normalizeH="0" baseline="33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2</a:t>
                      </a: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45720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0.0000</a:t>
                      </a:r>
                      <a:endParaRPr kumimoji="0" lang="en-CH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Microsoft YaHei"/>
                      </a:endParaRPr>
                    </a:p>
                  </a:txBody>
                  <a:tcPr marL="110588" marR="110588" marT="55294" marB="55294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9682"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CH" altLang="en-CH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 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/>
                          <a:ea typeface="Microsoft YaHei"/>
                          <a:sym typeface="Symbol"/>
                        </a:rPr>
                        <a:t></a:t>
                      </a: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45720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0.0117</a:t>
                      </a:r>
                      <a:endParaRPr kumimoji="0" lang="zh-CN" altLang="en-US" dirty="0"/>
                    </a:p>
                  </a:txBody>
                  <a:tcPr marL="110588" marR="110588" marT="55294" marB="55294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098090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A5379-45C6-E666-261F-8DF20A70B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CED4D6-1C7C-8511-0522-FB156CAECF9C}"/>
              </a:ext>
            </a:extLst>
          </p:cNvPr>
          <p:cNvSpPr txBox="1"/>
          <p:nvPr/>
        </p:nvSpPr>
        <p:spPr>
          <a:xfrm>
            <a:off x="-1094705" y="3428999"/>
            <a:ext cx="14422191" cy="3760015"/>
          </a:xfrm>
          <a:prstGeom prst="rect">
            <a:avLst/>
          </a:prstGeom>
          <a:solidFill>
            <a:srgbClr val="1792A0"/>
          </a:solidFill>
        </p:spPr>
        <p:txBody>
          <a:bodyPr wrap="square" rtlCol="0">
            <a:spAutoFit/>
          </a:bodyPr>
          <a:lstStyle/>
          <a:p>
            <a:endParaRPr lang="en-CH"/>
          </a:p>
        </p:txBody>
      </p:sp>
      <p:sp>
        <p:nvSpPr>
          <p:cNvPr id="3074" name="Rectangle 1">
            <a:extLst>
              <a:ext uri="{FF2B5EF4-FFF2-40B4-BE49-F238E27FC236}">
                <a16:creationId xmlns:a16="http://schemas.microsoft.com/office/drawing/2014/main" id="{132DE3A0-DD6E-3710-5171-71B1CA8A31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8750" y="119031"/>
            <a:ext cx="11611754" cy="829411"/>
          </a:xfrm>
        </p:spPr>
        <p:txBody>
          <a:bodyPr>
            <a:normAutofit fontScale="90000"/>
          </a:bodyPr>
          <a:lstStyle>
            <a:defPPr>
              <a:defRPr lang="en-GB"/>
            </a:defPPr>
            <a:lvl1pPr algn="l" defTabSz="552938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cs"/>
              </a:defRPr>
            </a:lvl1pPr>
            <a:lvl2pPr marL="898524" indent="-345586" algn="l" defTabSz="552938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cs"/>
              </a:defRPr>
            </a:lvl2pPr>
            <a:lvl3pPr marL="1382344" indent="-276469" algn="l" defTabSz="552938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cs"/>
              </a:defRPr>
            </a:lvl3pPr>
            <a:lvl4pPr marL="1935282" indent="-276469" algn="l" defTabSz="552938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cs"/>
              </a:defRPr>
            </a:lvl4pPr>
            <a:lvl5pPr marL="2488220" indent="-276469" algn="l" defTabSz="552938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cs"/>
              </a:defRPr>
            </a:lvl5pPr>
            <a:lvl6pPr marL="2764688" algn="l" defTabSz="110587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cs"/>
              </a:defRPr>
            </a:lvl6pPr>
            <a:lvl7pPr marL="3317626" algn="l" defTabSz="110587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cs"/>
              </a:defRPr>
            </a:lvl7pPr>
            <a:lvl8pPr marL="3870564" algn="l" defTabSz="110587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cs"/>
              </a:defRPr>
            </a:lvl8pPr>
            <a:lvl9pPr marL="4423501" algn="l" defTabSz="110587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cs"/>
              </a:defRPr>
            </a:lvl9pPr>
          </a:lstStyle>
          <a:p>
            <a:pPr eaLnBrk="1">
              <a:tabLst>
                <a:tab pos="552938" algn="l"/>
                <a:tab pos="1105875" algn="l"/>
                <a:tab pos="1658813" algn="l"/>
                <a:tab pos="2211751" algn="l"/>
                <a:tab pos="2764688" algn="l"/>
                <a:tab pos="3317626" algn="l"/>
                <a:tab pos="3870564" algn="l"/>
                <a:tab pos="4423501" algn="l"/>
                <a:tab pos="4976439" algn="l"/>
                <a:tab pos="5529377" algn="l"/>
                <a:tab pos="6082314" algn="l"/>
                <a:tab pos="6635252" algn="l"/>
                <a:tab pos="7188190" algn="l"/>
                <a:tab pos="7741128" algn="l"/>
                <a:tab pos="8294065" algn="l"/>
                <a:tab pos="8847003" algn="l"/>
                <a:tab pos="9399941" algn="l"/>
                <a:tab pos="9952878" algn="l"/>
                <a:tab pos="10505816" algn="l"/>
                <a:tab pos="11058754" algn="l"/>
                <a:tab pos="11611691" algn="l"/>
              </a:tabLst>
            </a:pPr>
            <a:r>
              <a:rPr lang="de-CH" altLang="de-CH" sz="1900">
                <a:latin typeface="Arial"/>
                <a:ea typeface="Microsoft YaHei"/>
                <a:cs typeface="Arial"/>
              </a:rPr>
              <a:t>Material = </a:t>
            </a:r>
            <a:r>
              <a:rPr lang="de-CH" sz="2100">
                <a:latin typeface="Arial"/>
                <a:ea typeface="Microsoft YaHei"/>
                <a:cs typeface="Arial"/>
              </a:rPr>
              <a:t>Polyisopren (schwarz)</a:t>
            </a:r>
            <a:r>
              <a:rPr lang="de-CH" altLang="de-CH" sz="1900">
                <a:latin typeface="Arial"/>
                <a:ea typeface="Microsoft YaHei"/>
                <a:cs typeface="Arial"/>
              </a:rPr>
              <a:t>          Mass m [kg] = </a:t>
            </a:r>
            <a:r>
              <a:rPr lang="de-CH" sz="1900">
                <a:latin typeface="Arial"/>
                <a:ea typeface="Microsoft YaHei"/>
                <a:cs typeface="Arial"/>
              </a:rPr>
              <a:t>0.6780 </a:t>
            </a:r>
            <a:r>
              <a:rPr lang="de-CH" altLang="de-CH" sz="1900">
                <a:latin typeface="Arial"/>
                <a:ea typeface="Microsoft YaHei"/>
                <a:cs typeface="Arial"/>
              </a:rPr>
              <a:t>	Area A [cm</a:t>
            </a:r>
            <a:r>
              <a:rPr lang="de-CH" altLang="de-CH" sz="1900" baseline="33000">
                <a:latin typeface="Arial"/>
                <a:ea typeface="Microsoft YaHei"/>
                <a:cs typeface="Arial"/>
              </a:rPr>
              <a:t>2</a:t>
            </a:r>
            <a:r>
              <a:rPr lang="de-CH" altLang="de-CH" sz="1900">
                <a:latin typeface="Arial"/>
                <a:ea typeface="Microsoft YaHei"/>
                <a:cs typeface="Arial"/>
              </a:rPr>
              <a:t>] = 39.000</a:t>
            </a:r>
            <a:r>
              <a:rPr lang="de-CH" sz="1900">
                <a:latin typeface="Arial"/>
                <a:ea typeface="Microsoft YaHei"/>
                <a:cs typeface="Arial"/>
              </a:rPr>
              <a:t>cm</a:t>
            </a:r>
            <a:r>
              <a:rPr lang="de-CH" sz="1900" baseline="30000">
                <a:latin typeface="Arial"/>
                <a:ea typeface="Microsoft YaHei"/>
                <a:cs typeface="Arial"/>
              </a:rPr>
              <a:t>2</a:t>
            </a:r>
            <a:r>
              <a:rPr lang="de-CH" altLang="de-CH" sz="1900" baseline="30000">
                <a:latin typeface="Arial"/>
                <a:ea typeface="Microsoft YaHei"/>
                <a:cs typeface="Arial"/>
              </a:rPr>
              <a:t>  </a:t>
            </a:r>
            <a:r>
              <a:rPr lang="de-CH" altLang="de-CH" sz="1900">
                <a:latin typeface="Arial"/>
                <a:ea typeface="Microsoft YaHei"/>
                <a:cs typeface="Arial"/>
              </a:rPr>
              <a:t>      </a:t>
            </a:r>
            <a:r>
              <a:rPr lang="de-CH" altLang="de-CH" sz="1900" err="1">
                <a:latin typeface="Arial"/>
                <a:ea typeface="Microsoft YaHei"/>
                <a:cs typeface="Arial"/>
              </a:rPr>
              <a:t>Voltage</a:t>
            </a:r>
            <a:r>
              <a:rPr lang="de-CH" altLang="de-CH" sz="1900">
                <a:latin typeface="Arial"/>
                <a:ea typeface="Microsoft YaHei"/>
                <a:cs typeface="Arial"/>
              </a:rPr>
              <a:t> U [V] = 5 V</a:t>
            </a:r>
            <a:br>
              <a:rPr lang="de-CH" altLang="de-CH" sz="1900"/>
            </a:br>
            <a:r>
              <a:rPr lang="de-CH" altLang="de-CH" sz="1900">
                <a:latin typeface="Arial"/>
                <a:ea typeface="Microsoft YaHei"/>
                <a:cs typeface="Arial"/>
              </a:rPr>
              <a:t>				                             </a:t>
            </a:r>
            <a:r>
              <a:rPr lang="de-CH" altLang="de-CH" sz="1900">
                <a:latin typeface="Symbol"/>
                <a:ea typeface="Microsoft YaHei"/>
                <a:sym typeface="Symbol"/>
              </a:rPr>
              <a:t></a:t>
            </a:r>
            <a:r>
              <a:rPr lang="de-CH" altLang="de-CH" sz="1900">
                <a:latin typeface="Arial"/>
                <a:ea typeface="Microsoft YaHei"/>
                <a:cs typeface="Arial"/>
              </a:rPr>
              <a:t>m = 0,1 g = 0,0001 kg</a:t>
            </a:r>
          </a:p>
        </p:txBody>
      </p:sp>
      <p:graphicFrame>
        <p:nvGraphicFramePr>
          <p:cNvPr id="2" name="Group 2">
            <a:extLst>
              <a:ext uri="{FF2B5EF4-FFF2-40B4-BE49-F238E27FC236}">
                <a16:creationId xmlns:a16="http://schemas.microsoft.com/office/drawing/2014/main" id="{035616CE-09F1-557C-5124-D2C0F3FE51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190087"/>
              </p:ext>
            </p:extLst>
          </p:nvPr>
        </p:nvGraphicFramePr>
        <p:xfrm>
          <a:off x="292045" y="944609"/>
          <a:ext cx="11601206" cy="5913394"/>
        </p:xfrm>
        <a:graphic>
          <a:graphicData uri="http://schemas.openxmlformats.org/drawingml/2006/table">
            <a:tbl>
              <a:tblPr/>
              <a:tblGrid>
                <a:gridCol w="1446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3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37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37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37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37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03512"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CH" altLang="en-CH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Measured / read friction force F [N] </a:t>
                      </a:r>
                    </a:p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at newton meter</a:t>
                      </a: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</a:pPr>
                      <a:r>
                        <a:rPr lang="en-CH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  <a:cs typeface="+mn-cs"/>
                        </a:rPr>
                        <a:t>F</a:t>
                      </a:r>
                      <a:r>
                        <a:rPr lang="en-CH" sz="1200" b="0" i="0" u="none" strike="noStrike" kern="1200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  <a:cs typeface="+mn-cs"/>
                        </a:rPr>
                        <a:t>1</a:t>
                      </a:r>
                      <a:r>
                        <a:rPr lang="en-CH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  <a:cs typeface="+mn-cs"/>
                        </a:rPr>
                        <a:t> = </a:t>
                      </a:r>
                      <a:r>
                        <a:rPr lang="de-DE" sz="12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2.30-2.45</a:t>
                      </a:r>
                      <a:endParaRPr lang="de-DE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Microsoft YaHei"/>
                        <a:cs typeface="+mn-cs"/>
                      </a:endParaRP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Font typeface="Times New Roman" panose="02020603050405020304" pitchFamily="18" charset="0"/>
                        <a:buNone/>
                      </a:pPr>
                      <a:r>
                        <a:rPr lang="de-DE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  <a:cs typeface="+mn-cs"/>
                        </a:rPr>
                        <a:t>F</a:t>
                      </a:r>
                      <a:r>
                        <a:rPr lang="de-DE" sz="1200" b="0" i="0" u="none" strike="noStrike" kern="1200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  <a:cs typeface="+mn-cs"/>
                        </a:rPr>
                        <a:t>2</a:t>
                      </a:r>
                      <a:r>
                        <a:rPr lang="de-DE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  <a:cs typeface="+mn-cs"/>
                        </a:rPr>
                        <a:t> = </a:t>
                      </a:r>
                      <a:r>
                        <a:rPr lang="de-DE" sz="12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2.30-2.45</a:t>
                      </a: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</a:pPr>
                      <a:r>
                        <a:rPr lang="en-CH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F</a:t>
                      </a:r>
                      <a:r>
                        <a:rPr lang="en-CH" sz="12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3</a:t>
                      </a:r>
                      <a:r>
                        <a:rPr lang="en-CH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= </a:t>
                      </a:r>
                      <a:r>
                        <a:rPr lang="de-DE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2.30-2.45</a:t>
                      </a: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</a:pPr>
                      <a:r>
                        <a:rPr lang="zh-CN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  <a:cs typeface="+mn-cs"/>
                        </a:rPr>
                        <a:t>F</a:t>
                      </a:r>
                      <a:r>
                        <a:rPr lang="zh-CN" sz="1200" b="0" i="0" u="none" strike="noStrike" kern="1200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  <a:cs typeface="+mn-cs"/>
                        </a:rPr>
                        <a:t>4</a:t>
                      </a:r>
                      <a:r>
                        <a:rPr lang="zh-CN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  <a:cs typeface="+mn-cs"/>
                        </a:rPr>
                        <a:t>= </a:t>
                      </a:r>
                      <a:r>
                        <a:rPr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  <a:cs typeface="+mn-cs"/>
                        </a:rPr>
                        <a:t>N/A</a:t>
                      </a:r>
                      <a:endParaRPr lang="de-DE" altLang="zh-CN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Microsoft YaHei"/>
                        <a:cs typeface="+mn-cs"/>
                      </a:endParaRP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</a:pPr>
                      <a:r>
                        <a:rPr lang="zh-CN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  <a:cs typeface="+mn-cs"/>
                        </a:rPr>
                        <a:t>F</a:t>
                      </a:r>
                      <a:r>
                        <a:rPr lang="zh-CN" sz="1200" b="0" i="0" u="none" strike="noStrike" kern="1200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  <a:cs typeface="+mn-cs"/>
                        </a:rPr>
                        <a:t>5</a:t>
                      </a:r>
                      <a:r>
                        <a:rPr lang="zh-CN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  <a:cs typeface="+mn-cs"/>
                        </a:rPr>
                        <a:t> = </a:t>
                      </a:r>
                      <a:r>
                        <a:rPr lang="en-US" altLang="zh-CN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N/A</a:t>
                      </a:r>
                      <a:endParaRPr lang="de-DE" altLang="zh-CN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Microsoft YaHei"/>
                        <a:cs typeface="+mn-cs"/>
                      </a:endParaRP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682"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CH" altLang="en-CH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Number n of measurements</a:t>
                      </a: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3</a:t>
                      </a:r>
                      <a:endParaRPr kumimoji="0" 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Microsoft YaHei"/>
                      </a:endParaRPr>
                    </a:p>
                  </a:txBody>
                  <a:tcPr marL="110588" marR="110588" marT="55294" marB="55294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7703"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CH" altLang="en-CH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Student factor t </a:t>
                      </a:r>
                      <a:r>
                        <a:rPr kumimoji="0" lang="en-CH" sz="1800" b="0" i="0" u="none" strike="noStrike" cap="none" normalizeH="0" baseline="-33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95 </a:t>
                      </a:r>
                      <a:r>
                        <a:rPr kumimoji="0" lang="en-CH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(n-1) from tables in literature about statistics (for c </a:t>
                      </a:r>
                      <a:r>
                        <a:rPr kumimoji="0" lang="en-CH" sz="1800" b="0" i="0" u="none" strike="noStrike" cap="none" normalizeH="0" baseline="-33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95</a:t>
                      </a:r>
                      <a:r>
                        <a:rPr kumimoji="0" lang="en-CH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)</a:t>
                      </a: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None/>
                      </a:pPr>
                      <a:r>
                        <a:rPr lang="en-US" sz="18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Nicht </a:t>
                      </a:r>
                      <a:r>
                        <a:rPr lang="en-US" sz="1800" b="0" i="0" u="none" strike="noStrike" cap="none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betrachtet</a:t>
                      </a:r>
                      <a:endParaRPr kumimoji="0" lang="en-CH" altLang="en-CH" sz="1800" b="0" i="0" u="none" strike="noStrike" cap="none" normalizeH="0" baseline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110588" marR="110588" marT="55294" marB="55294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682"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CH" altLang="en-CH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Mean friction force &lt;F&gt; [N]</a:t>
                      </a: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45720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8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2.3750</a:t>
                      </a:r>
                      <a:r>
                        <a:rPr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N</a:t>
                      </a:r>
                      <a:endParaRPr kumimoji="0" lang="en-CH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Microsoft YaHei"/>
                      </a:endParaRPr>
                    </a:p>
                  </a:txBody>
                  <a:tcPr marL="110588" marR="110588" marT="55294" marB="55294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256">
                <a:tc rowSpan="4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/>
                          <a:ea typeface="Microsoft YaHei"/>
                          <a:sym typeface="Symbol"/>
                        </a:rPr>
                        <a:t>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F [N] is the largest of</a:t>
                      </a:r>
                    </a:p>
                  </a:txBody>
                  <a:tcPr marL="43539" marR="43539" marT="43543" marB="43543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standard deviation 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/>
                          <a:ea typeface="Microsoft YaHei"/>
                          <a:sym typeface="Symbol"/>
                        </a:rPr>
                        <a:t></a:t>
                      </a:r>
                      <a:r>
                        <a:rPr kumimoji="0" lang="en-CH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 </a:t>
                      </a:r>
                      <a:r>
                        <a:rPr kumimoji="0" lang="en-CH" sz="1800" b="0" i="0" u="none" strike="noStrike" cap="none" normalizeH="0" baseline="-33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68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 [N]</a:t>
                      </a: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</a:pPr>
                      <a:r>
                        <a:rPr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Nicht </a:t>
                      </a:r>
                      <a:r>
                        <a:rPr lang="en-CH" sz="18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betrachtet</a:t>
                      </a:r>
                      <a:endParaRPr kumimoji="0" lang="en-CH" altLang="en-CH" sz="1800" b="0" i="0" u="none" strike="noStrike" cap="none" normalizeH="0" baseline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Microsoft YaHei"/>
                      </a:endParaRPr>
                    </a:p>
                  </a:txBody>
                  <a:tcPr marL="110588" marR="110588" marT="55294" marB="55294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256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confidence interval c </a:t>
                      </a:r>
                      <a:r>
                        <a:rPr kumimoji="0" lang="en-CH" sz="1800" b="0" i="0" u="none" strike="noStrike" cap="none" normalizeH="0" baseline="-33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95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 [N]</a:t>
                      </a: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None/>
                      </a:pPr>
                      <a:r>
                        <a:rPr lang="en-US" sz="18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Nicht </a:t>
                      </a:r>
                      <a:r>
                        <a:rPr lang="en-US" sz="1800" b="0" i="0" u="none" strike="noStrike" cap="none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betrachtet</a:t>
                      </a:r>
                      <a:endParaRPr kumimoji="0" lang="de-DE" sz="2000" err="1"/>
                    </a:p>
                  </a:txBody>
                  <a:tcPr marL="110588" marR="110588" marT="55294" marB="55294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256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error newton meter [N]</a:t>
                      </a: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CH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0.0500</a:t>
                      </a:r>
                      <a:endParaRPr kumimoji="0" lang="en-CH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Microsoft YaHei"/>
                      </a:endParaRPr>
                    </a:p>
                  </a:txBody>
                  <a:tcPr marL="110588" marR="110588" marT="55294" marB="55294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9597">
                <a:tc vMerge="1"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CH" altLang="en-CH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36000" marR="36000" marT="36004" marB="36004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fluctuation range of oscillating newton meter and cuboid on the conveyor belt (if any)</a:t>
                      </a: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None/>
                      </a:pPr>
                      <a:r>
                        <a:rPr lang="en-US" altLang="zh-CN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0.0750</a:t>
                      </a:r>
                      <a:r>
                        <a:rPr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N</a:t>
                      </a:r>
                      <a:endParaRPr kumimoji="0" lang="zh-CN" altLang="en-US" sz="1800" b="0" i="0" u="none" strike="noStrike" cap="none" normalizeH="0" baseline="-25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Microsoft YaHei"/>
                      </a:endParaRPr>
                    </a:p>
                  </a:txBody>
                  <a:tcPr marL="110588" marR="110588" marT="55294" marB="55294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7256"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CH" altLang="en-CH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Friction coefficient 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/>
                          <a:ea typeface="Microsoft YaHei"/>
                          <a:sym typeface="Symbol"/>
                        </a:rPr>
                        <a:t>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 or &lt;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/>
                          <a:ea typeface="Microsoft YaHei"/>
                          <a:sym typeface="Symbol"/>
                        </a:rPr>
                        <a:t>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&gt; = &lt;F&gt;/(m g)</a:t>
                      </a: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45720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0.3571</a:t>
                      </a:r>
                      <a:endParaRPr kumimoji="0" lang="zh-CN" dirty="0"/>
                    </a:p>
                  </a:txBody>
                  <a:tcPr marL="110588" marR="110588" marT="55294" marB="55294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7256"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CH" altLang="en-CH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 [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/>
                          <a:ea typeface="Microsoft YaHei"/>
                          <a:sym typeface="Symbol"/>
                        </a:rPr>
                        <a:t>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F / (m g)] </a:t>
                      </a:r>
                      <a:r>
                        <a:rPr kumimoji="0" lang="en-CH" sz="1800" b="0" i="0" u="none" strike="noStrike" cap="none" normalizeH="0" baseline="33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2</a:t>
                      </a: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45720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0.0001</a:t>
                      </a:r>
                      <a:endParaRPr kumimoji="0" lang="zh-CN" dirty="0"/>
                    </a:p>
                  </a:txBody>
                  <a:tcPr marL="110588" marR="110588" marT="55294" marB="55294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7256"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CH" altLang="en-CH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[(F 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/>
                          <a:ea typeface="Microsoft YaHei"/>
                          <a:sym typeface="Symbol"/>
                        </a:rPr>
                        <a:t>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m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/>
                          <a:ea typeface="Microsoft YaHei"/>
                          <a:sym typeface="Symbol"/>
                        </a:rPr>
                        <a:t>) 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/ (m </a:t>
                      </a:r>
                      <a:r>
                        <a:rPr kumimoji="0" lang="en-CH" sz="1800" b="0" i="0" u="none" strike="noStrike" cap="none" normalizeH="0" baseline="33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2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 g)] </a:t>
                      </a:r>
                      <a:r>
                        <a:rPr kumimoji="0" lang="en-CH" sz="1800" b="0" i="0" u="none" strike="noStrike" cap="none" normalizeH="0" baseline="33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2</a:t>
                      </a: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45720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0.0000</a:t>
                      </a:r>
                      <a:endParaRPr kumimoji="0" lang="en-CH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Microsoft YaHei"/>
                      </a:endParaRPr>
                    </a:p>
                  </a:txBody>
                  <a:tcPr marL="110588" marR="110588" marT="55294" marB="55294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9682"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CH" altLang="en-CH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CH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Microsoft YaHei"/>
                        </a:rPr>
                        <a:t> </a:t>
                      </a:r>
                      <a:r>
                        <a:rPr kumimoji="0" lang="en-CH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/>
                          <a:ea typeface="Microsoft YaHei"/>
                          <a:sym typeface="Symbol"/>
                        </a:rPr>
                        <a:t></a:t>
                      </a:r>
                    </a:p>
                  </a:txBody>
                  <a:tcPr marL="43539" marR="43539" marT="0" marB="0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572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457200">
                        <a:lnSpc>
                          <a:spcPct val="93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0.0113</a:t>
                      </a:r>
                      <a:endParaRPr kumimoji="0" lang="zh-CN" dirty="0"/>
                    </a:p>
                  </a:txBody>
                  <a:tcPr marL="110588" marR="110588" marT="55294" marB="55294" anchor="ctr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359903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">
            <a:extLst>
              <a:ext uri="{FF2B5EF4-FFF2-40B4-BE49-F238E27FC236}">
                <a16:creationId xmlns:a16="http://schemas.microsoft.com/office/drawing/2014/main" id="{8AA7DCD4-9172-6CEB-096C-6A2ACB1AAF38}"/>
              </a:ext>
            </a:extLst>
          </p:cNvPr>
          <p:cNvSpPr txBox="1"/>
          <p:nvPr/>
        </p:nvSpPr>
        <p:spPr>
          <a:xfrm>
            <a:off x="-373487" y="-532214"/>
            <a:ext cx="13149329" cy="1944710"/>
          </a:xfrm>
          <a:prstGeom prst="rect">
            <a:avLst/>
          </a:prstGeom>
          <a:solidFill>
            <a:srgbClr val="1792A0"/>
          </a:solidFill>
        </p:spPr>
        <p:txBody>
          <a:bodyPr wrap="square" rtlCol="0">
            <a:spAutoFit/>
          </a:bodyPr>
          <a:lstStyle/>
          <a:p>
            <a:endParaRPr lang="en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66660C-CF61-1736-BE52-350CE5EA4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/>
              <a:t>Diskussion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1D3AAB-275A-7D81-468D-296D1831010F}"/>
              </a:ext>
            </a:extLst>
          </p:cNvPr>
          <p:cNvSpPr txBox="1"/>
          <p:nvPr/>
        </p:nvSpPr>
        <p:spPr>
          <a:xfrm>
            <a:off x="784849" y="1414992"/>
            <a:ext cx="10616541" cy="50783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de-CH" noProof="0"/>
              <a:t>Wegen Schwankungen</a:t>
            </a:r>
            <a:r>
              <a:rPr lang="de-CH"/>
              <a:t> (systematischer Fehler) wurden</a:t>
            </a:r>
            <a:r>
              <a:rPr lang="de-CH" noProof="0"/>
              <a:t> </a:t>
            </a:r>
            <a:r>
              <a:rPr lang="de-CH"/>
              <a:t>die </a:t>
            </a:r>
            <a:r>
              <a:rPr lang="de-CH" noProof="0"/>
              <a:t>Standardabweichung</a:t>
            </a:r>
            <a:r>
              <a:rPr lang="de-CH"/>
              <a:t>,</a:t>
            </a:r>
            <a:r>
              <a:rPr lang="de-CH" noProof="0"/>
              <a:t> </a:t>
            </a:r>
            <a:r>
              <a:rPr lang="de-CH"/>
              <a:t>Studentenverteilung </a:t>
            </a:r>
            <a:r>
              <a:rPr lang="de-CH" noProof="0"/>
              <a:t>und das Vertrauensintervall </a:t>
            </a:r>
            <a:r>
              <a:rPr lang="de-CH"/>
              <a:t>nicht angewendet</a:t>
            </a:r>
            <a:br>
              <a:rPr lang="de-CH" noProof="0"/>
            </a:br>
            <a:endParaRPr lang="de-CH" noProof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de-CH" noProof="0"/>
              <a:t>Das weisse Polyethylen hat eine relativ glatte Oberfläche und ist zudem relativ steif, also schlecht verformbar. </a:t>
            </a:r>
            <a:br>
              <a:rPr lang="de-CH" noProof="0"/>
            </a:br>
            <a:endParaRPr lang="de-CH" noProof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de-CH" noProof="0"/>
              <a:t>Stahl ist auch ein eher steifes Material.</a:t>
            </a:r>
            <a:br>
              <a:rPr lang="de-CH" noProof="0"/>
            </a:br>
            <a:endParaRPr lang="de-CH" noProof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de-CH" noProof="0"/>
              <a:t>Zuletzt kommt das schwarze Polyisopren. Ein eher weiches Material, welches besser an anderen Materialien haftet.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de-CH" noProof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de-CH" noProof="0"/>
              <a:t>Offenbar hat die Oberfläche, sowie das Gewicht einen Einfluss darauf, wie viel Kraft für die Haftreibung aufgewendet werden muss. Je höher desto mehr.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de-CH" noProof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de-CH" noProof="0"/>
              <a:t>Die Reibung hängt nicht stark von der Geschwindigkeit bzw. Spannung ab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de-CH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de-CH"/>
              <a:t>Man sieht also, dass die </a:t>
            </a:r>
            <a:r>
              <a:rPr lang="de-CH" err="1"/>
              <a:t>Amontonsschen</a:t>
            </a:r>
            <a:r>
              <a:rPr lang="de-CH"/>
              <a:t> Gesetze nur Annäherungen sind und nicht die Realität darstellen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52D2197-BB05-6015-06A7-06C09255A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8794" y="6197871"/>
            <a:ext cx="1954949" cy="66047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E70ED51-FF62-F025-97BE-0961E91D3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834" y="6195896"/>
            <a:ext cx="1497284" cy="66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584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>
            <a:extLst>
              <a:ext uri="{FF2B5EF4-FFF2-40B4-BE49-F238E27FC236}">
                <a16:creationId xmlns:a16="http://schemas.microsoft.com/office/drawing/2014/main" id="{3278D913-C4A4-4901-2FB0-CE3AD6B5DE29}"/>
              </a:ext>
            </a:extLst>
          </p:cNvPr>
          <p:cNvSpPr txBox="1"/>
          <p:nvPr/>
        </p:nvSpPr>
        <p:spPr>
          <a:xfrm>
            <a:off x="-373487" y="-532214"/>
            <a:ext cx="13149329" cy="1944710"/>
          </a:xfrm>
          <a:prstGeom prst="rect">
            <a:avLst/>
          </a:prstGeom>
          <a:solidFill>
            <a:srgbClr val="1792A0"/>
          </a:solidFill>
        </p:spPr>
        <p:txBody>
          <a:bodyPr wrap="square" rtlCol="0">
            <a:spAutoFit/>
          </a:bodyPr>
          <a:lstStyle/>
          <a:p>
            <a:endParaRPr lang="en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284201-0A6C-8134-6467-88038E290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/>
              <a:t>Anhang</a:t>
            </a:r>
          </a:p>
        </p:txBody>
      </p:sp>
      <p:pic>
        <p:nvPicPr>
          <p:cNvPr id="4" name="Picture 3" descr="A notebook with writing on it&#10;&#10;AI-generated content may be incorrect.">
            <a:extLst>
              <a:ext uri="{FF2B5EF4-FFF2-40B4-BE49-F238E27FC236}">
                <a16:creationId xmlns:a16="http://schemas.microsoft.com/office/drawing/2014/main" id="{8A2DEC9D-9D0D-F3B1-FB28-F024F29435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75"/>
          <a:stretch>
            <a:fillRect/>
          </a:stretch>
        </p:blipFill>
        <p:spPr>
          <a:xfrm>
            <a:off x="2499435" y="1414992"/>
            <a:ext cx="3857625" cy="506613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734C1C3-4C25-26D3-43DE-118F4C488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834" y="6195896"/>
            <a:ext cx="1497284" cy="664428"/>
          </a:xfrm>
          <a:prstGeom prst="rect">
            <a:avLst/>
          </a:prstGeom>
        </p:spPr>
      </p:pic>
      <p:pic>
        <p:nvPicPr>
          <p:cNvPr id="6" name="Picture 5" descr="A notebook with writing on it&#10;&#10;AI-generated content may be incorrect.">
            <a:extLst>
              <a:ext uri="{FF2B5EF4-FFF2-40B4-BE49-F238E27FC236}">
                <a16:creationId xmlns:a16="http://schemas.microsoft.com/office/drawing/2014/main" id="{3AC501E5-F43F-056C-CB6F-571672EA6D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975" b="7237"/>
          <a:stretch>
            <a:fillRect/>
          </a:stretch>
        </p:blipFill>
        <p:spPr>
          <a:xfrm>
            <a:off x="6520599" y="1414993"/>
            <a:ext cx="3212337" cy="507047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550AAAE-1AC2-1D95-D29B-4F1CB2C280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8794" y="6197871"/>
            <a:ext cx="1954949" cy="66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34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DCE5A-8A47-F291-CFB0-2741D21AA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">
            <a:extLst>
              <a:ext uri="{FF2B5EF4-FFF2-40B4-BE49-F238E27FC236}">
                <a16:creationId xmlns:a16="http://schemas.microsoft.com/office/drawing/2014/main" id="{E57DACCF-AC17-4C69-2944-80CAFA9773EB}"/>
              </a:ext>
            </a:extLst>
          </p:cNvPr>
          <p:cNvSpPr txBox="1"/>
          <p:nvPr/>
        </p:nvSpPr>
        <p:spPr>
          <a:xfrm>
            <a:off x="-373487" y="-700656"/>
            <a:ext cx="13149329" cy="1944710"/>
          </a:xfrm>
          <a:prstGeom prst="rect">
            <a:avLst/>
          </a:prstGeom>
          <a:solidFill>
            <a:srgbClr val="1792A0"/>
          </a:solidFill>
        </p:spPr>
        <p:txBody>
          <a:bodyPr wrap="square" rtlCol="0">
            <a:spAutoFit/>
          </a:bodyPr>
          <a:lstStyle/>
          <a:p>
            <a:endParaRPr lang="en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BC8422-8D08-0C58-2E32-467540A82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/>
              <a:t>Anhang</a:t>
            </a:r>
          </a:p>
        </p:txBody>
      </p:sp>
      <p:pic>
        <p:nvPicPr>
          <p:cNvPr id="3" name="图片 2" descr="表格&#10;&#10;AI 生成的内容可能不正确。">
            <a:extLst>
              <a:ext uri="{FF2B5EF4-FFF2-40B4-BE49-F238E27FC236}">
                <a16:creationId xmlns:a16="http://schemas.microsoft.com/office/drawing/2014/main" id="{4A92E842-842E-BF43-6E5E-899C41276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136" y="1096536"/>
            <a:ext cx="7803630" cy="542692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DD6BB1A-3345-D0BD-DB19-952876D99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8794" y="6197871"/>
            <a:ext cx="1954949" cy="66047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AC4292A-FFA4-36FE-CB69-44AE3C3145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3834" y="6195896"/>
            <a:ext cx="1497284" cy="66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714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C5A88-C6E4-3D1E-EA52-87405701C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>
            <a:extLst>
              <a:ext uri="{FF2B5EF4-FFF2-40B4-BE49-F238E27FC236}">
                <a16:creationId xmlns:a16="http://schemas.microsoft.com/office/drawing/2014/main" id="{E5493AF8-DD37-8B84-E939-2F7CBD530938}"/>
              </a:ext>
            </a:extLst>
          </p:cNvPr>
          <p:cNvSpPr txBox="1"/>
          <p:nvPr/>
        </p:nvSpPr>
        <p:spPr>
          <a:xfrm>
            <a:off x="-477761" y="-572320"/>
            <a:ext cx="13149329" cy="1944710"/>
          </a:xfrm>
          <a:prstGeom prst="rect">
            <a:avLst/>
          </a:prstGeom>
          <a:solidFill>
            <a:srgbClr val="1792A0"/>
          </a:solidFill>
        </p:spPr>
        <p:txBody>
          <a:bodyPr wrap="square" rtlCol="0">
            <a:spAutoFit/>
          </a:bodyPr>
          <a:lstStyle/>
          <a:p>
            <a:endParaRPr lang="en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85EF78-3148-A8C0-0F97-EC4C85D5B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/>
              <a:t>Anhang</a:t>
            </a:r>
          </a:p>
        </p:txBody>
      </p:sp>
      <p:pic>
        <p:nvPicPr>
          <p:cNvPr id="4" name="图片 3" descr="文本&#10;&#10;AI 生成的内容可能不正确。">
            <a:extLst>
              <a:ext uri="{FF2B5EF4-FFF2-40B4-BE49-F238E27FC236}">
                <a16:creationId xmlns:a16="http://schemas.microsoft.com/office/drawing/2014/main" id="{671AF7E4-9DDE-A290-807F-39EFDD9CD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294" y="736121"/>
            <a:ext cx="5565009" cy="5148147"/>
          </a:xfrm>
          <a:prstGeom prst="rect">
            <a:avLst/>
          </a:prstGeom>
        </p:spPr>
      </p:pic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BB98DF3B-72C7-09F0-87E0-723B12A23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605" y="1369517"/>
            <a:ext cx="6043500" cy="451624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222BA4E-E88C-7626-D767-52023D9867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8794" y="6197871"/>
            <a:ext cx="1954949" cy="66047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7F73FA4-35A7-9D6E-663C-08ADB350B2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3834" y="6195896"/>
            <a:ext cx="1497284" cy="66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758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">
            <a:extLst>
              <a:ext uri="{FF2B5EF4-FFF2-40B4-BE49-F238E27FC236}">
                <a16:creationId xmlns:a16="http://schemas.microsoft.com/office/drawing/2014/main" id="{4EAF9FAB-F06A-3549-C883-683C34EEBBE5}"/>
              </a:ext>
            </a:extLst>
          </p:cNvPr>
          <p:cNvSpPr txBox="1"/>
          <p:nvPr/>
        </p:nvSpPr>
        <p:spPr>
          <a:xfrm>
            <a:off x="-341403" y="-700656"/>
            <a:ext cx="13149329" cy="1944710"/>
          </a:xfrm>
          <a:prstGeom prst="rect">
            <a:avLst/>
          </a:prstGeom>
          <a:solidFill>
            <a:srgbClr val="1792A0"/>
          </a:solidFill>
        </p:spPr>
        <p:txBody>
          <a:bodyPr wrap="square" rtlCol="0">
            <a:spAutoFit/>
          </a:bodyPr>
          <a:lstStyle/>
          <a:p>
            <a:endParaRPr lang="en-CH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F119F25-E8E3-3E82-D9BA-D29BCB2B0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等线 Light"/>
              </a:rPr>
              <a:t>Anhang</a:t>
            </a:r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FFD575F-4D69-C1FB-597A-3AB084E9C14B}"/>
              </a:ext>
            </a:extLst>
          </p:cNvPr>
          <p:cNvSpPr txBox="1"/>
          <p:nvPr/>
        </p:nvSpPr>
        <p:spPr>
          <a:xfrm>
            <a:off x="927328" y="1854657"/>
            <a:ext cx="609897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CH" noProof="0" dirty="0">
                <a:ea typeface="等线"/>
              </a:rPr>
              <a:t>Alle Codes</a:t>
            </a:r>
            <a:r>
              <a:rPr lang="de-CH" dirty="0">
                <a:ea typeface="等线"/>
              </a:rPr>
              <a:t>(Python)</a:t>
            </a:r>
            <a:r>
              <a:rPr lang="de-CH" noProof="0" dirty="0">
                <a:ea typeface="等线"/>
              </a:rPr>
              <a:t> bzw. Daten</a:t>
            </a:r>
            <a:r>
              <a:rPr lang="de-CH" dirty="0">
                <a:ea typeface="等线"/>
              </a:rPr>
              <a:t>(csv)</a:t>
            </a:r>
            <a:r>
              <a:rPr lang="de-CH" noProof="0" dirty="0">
                <a:ea typeface="等线"/>
              </a:rPr>
              <a:t> sind in </a:t>
            </a:r>
            <a:r>
              <a:rPr lang="de-CH" noProof="0" dirty="0">
                <a:ea typeface="等线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Webseite</a:t>
            </a:r>
            <a:r>
              <a:rPr lang="de-CH" noProof="0" dirty="0">
                <a:ea typeface="等线"/>
              </a:rPr>
              <a:t> </a:t>
            </a:r>
            <a:r>
              <a:rPr lang="de-CH" noProof="0">
                <a:ea typeface="等线"/>
              </a:rPr>
              <a:t>verfügbar.</a:t>
            </a:r>
            <a:r>
              <a:rPr lang="de-CH">
                <a:ea typeface="等线"/>
              </a:rPr>
              <a:t> </a:t>
            </a:r>
            <a:endParaRPr lang="de-CH">
              <a:ea typeface="等线"/>
              <a:cs typeface="+mn-lt"/>
            </a:endParaRPr>
          </a:p>
          <a:p>
            <a:r>
              <a:rPr lang="de-CH" dirty="0">
                <a:ea typeface="+mn-lt"/>
                <a:cs typeface="+mn-lt"/>
              </a:rPr>
              <a:t>https://github.com/VittelFreising/v10-fehlerrechnung</a:t>
            </a:r>
            <a:endParaRPr lang="de-CH" noProof="0">
              <a:ea typeface="等线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31F21AE-5820-5056-4A1F-AE690C150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8794" y="6197871"/>
            <a:ext cx="1954949" cy="66047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DC84FD6-8699-458D-E6DA-769E0C4639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3834" y="6195896"/>
            <a:ext cx="1497284" cy="66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589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Breitbild</PresentationFormat>
  <Slides>17</Slides>
  <Notes>7</Notes>
  <HiddenSlides>0</HiddenSlide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18" baseType="lpstr">
      <vt:lpstr>Office Theme</vt:lpstr>
      <vt:lpstr>Tribologie</vt:lpstr>
      <vt:lpstr>Inhalt</vt:lpstr>
      <vt:lpstr>Versuchsaufbau</vt:lpstr>
      <vt:lpstr>Experimentelle Beobachtung</vt:lpstr>
      <vt:lpstr>PowerPoint-Präsentation</vt:lpstr>
      <vt:lpstr>PowerPoint-Präsentation</vt:lpstr>
      <vt:lpstr>PowerPoint-Präsentation</vt:lpstr>
      <vt:lpstr>Theoretische Fehlerfortpflanzung</vt:lpstr>
      <vt:lpstr>Hinweis für die Berechnungen</vt:lpstr>
      <vt:lpstr>Material = Stahl+1+2          Mass m [kg] = 0.93070   Area A [cm2] =39 .000cm2        Voltage U [V] = 5 V                                  m = 0,1 g = 0,0001 kg</vt:lpstr>
      <vt:lpstr>Material = Polyethylen (weiss)+1+2+3+4          Mass m [kg] = 1.3032  Area A [cm2] =40 .000cm2        Voltage U [V] = 5 V                                  m = 0,1 g = 0,0001 kg</vt:lpstr>
      <vt:lpstr>Material = Polyisopren (schwarz)          Mass m [kg] = 0.6780  Area A [cm2] = 39.000cm2        Voltage U [V] = 5 V                                  m = 0,1 g = 0,0001 kg</vt:lpstr>
      <vt:lpstr>Diskussion</vt:lpstr>
      <vt:lpstr>Anhang</vt:lpstr>
      <vt:lpstr>Anhang</vt:lpstr>
      <vt:lpstr>Anhang</vt:lpstr>
      <vt:lpstr>Anhang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Jeanni Mungo</dc:creator>
  <cp:revision>166</cp:revision>
  <dcterms:created xsi:type="dcterms:W3CDTF">2025-11-22T15:40:00Z</dcterms:created>
  <dcterms:modified xsi:type="dcterms:W3CDTF">2025-11-24T15:47:31Z</dcterms:modified>
</cp:coreProperties>
</file>